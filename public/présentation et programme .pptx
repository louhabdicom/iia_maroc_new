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7" r:id="rId2"/>
    <p:sldId id="271" r:id="rId3"/>
    <p:sldId id="270" r:id="rId4"/>
    <p:sldId id="272" r:id="rId5"/>
  </p:sldIdLst>
  <p:sldSz cx="7307263" cy="180006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244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48045" y="2945943"/>
            <a:ext cx="6211174" cy="6266897"/>
          </a:xfrm>
        </p:spPr>
        <p:txBody>
          <a:bodyPr anchor="b"/>
          <a:lstStyle>
            <a:lvl1pPr algn="ctr">
              <a:defRPr sz="4795"/>
            </a:lvl1pPr>
          </a:lstStyle>
          <a:p>
            <a:r>
              <a:rPr lang="fr-FR"/>
              <a:t>Modifiez le style du titre</a:t>
            </a:r>
            <a:endParaRPr lang="en-US" dirty="0"/>
          </a:p>
        </p:txBody>
      </p:sp>
      <p:sp>
        <p:nvSpPr>
          <p:cNvPr id="3" name="Subtitle 2"/>
          <p:cNvSpPr>
            <a:spLocks noGrp="1"/>
          </p:cNvSpPr>
          <p:nvPr>
            <p:ph type="subTitle" idx="1"/>
          </p:nvPr>
        </p:nvSpPr>
        <p:spPr>
          <a:xfrm>
            <a:off x="913408" y="9454516"/>
            <a:ext cx="5480447" cy="4345992"/>
          </a:xfrm>
        </p:spPr>
        <p:txBody>
          <a:bodyPr/>
          <a:lstStyle>
            <a:lvl1pPr marL="0" indent="0" algn="ctr">
              <a:buNone/>
              <a:defRPr sz="1918"/>
            </a:lvl1pPr>
            <a:lvl2pPr marL="365349" indent="0" algn="ctr">
              <a:buNone/>
              <a:defRPr sz="1598"/>
            </a:lvl2pPr>
            <a:lvl3pPr marL="730697" indent="0" algn="ctr">
              <a:buNone/>
              <a:defRPr sz="1438"/>
            </a:lvl3pPr>
            <a:lvl4pPr marL="1096046" indent="0" algn="ctr">
              <a:buNone/>
              <a:defRPr sz="1279"/>
            </a:lvl4pPr>
            <a:lvl5pPr marL="1461394" indent="0" algn="ctr">
              <a:buNone/>
              <a:defRPr sz="1279"/>
            </a:lvl5pPr>
            <a:lvl6pPr marL="1826743" indent="0" algn="ctr">
              <a:buNone/>
              <a:defRPr sz="1279"/>
            </a:lvl6pPr>
            <a:lvl7pPr marL="2192091" indent="0" algn="ctr">
              <a:buNone/>
              <a:defRPr sz="1279"/>
            </a:lvl7pPr>
            <a:lvl8pPr marL="2557440" indent="0" algn="ctr">
              <a:buNone/>
              <a:defRPr sz="1279"/>
            </a:lvl8pPr>
            <a:lvl9pPr marL="2922788" indent="0" algn="ctr">
              <a:buNone/>
              <a:defRPr sz="1279"/>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8B6FED69-E6D8-4282-B7EE-C0DC9DFC653D}" type="datetimeFigureOut">
              <a:rPr lang="fr-MA" smtClean="0"/>
              <a:t>04/10/2026</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3443580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B6FED69-E6D8-4282-B7EE-C0DC9DFC653D}" type="datetimeFigureOut">
              <a:rPr lang="fr-MA" smtClean="0"/>
              <a:t>04/10/2026</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44939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498569" y="4487671"/>
            <a:ext cx="6302514" cy="7487774"/>
          </a:xfrm>
        </p:spPr>
        <p:txBody>
          <a:bodyPr anchor="b"/>
          <a:lstStyle>
            <a:lvl1pPr>
              <a:defRPr sz="4795"/>
            </a:lvl1pPr>
          </a:lstStyle>
          <a:p>
            <a:r>
              <a:rPr lang="fr-FR"/>
              <a:t>Modifiez le style du titre</a:t>
            </a:r>
            <a:endParaRPr lang="en-US" dirty="0"/>
          </a:p>
        </p:txBody>
      </p:sp>
      <p:sp>
        <p:nvSpPr>
          <p:cNvPr id="3" name="Text Placeholder 2"/>
          <p:cNvSpPr>
            <a:spLocks noGrp="1"/>
          </p:cNvSpPr>
          <p:nvPr>
            <p:ph type="body" idx="1"/>
          </p:nvPr>
        </p:nvSpPr>
        <p:spPr>
          <a:xfrm>
            <a:off x="498569" y="12046282"/>
            <a:ext cx="6302514" cy="3937644"/>
          </a:xfrm>
        </p:spPr>
        <p:txBody>
          <a:bodyPr/>
          <a:lstStyle>
            <a:lvl1pPr marL="0" indent="0">
              <a:buNone/>
              <a:defRPr sz="1918">
                <a:solidFill>
                  <a:schemeClr val="tx1">
                    <a:tint val="82000"/>
                  </a:schemeClr>
                </a:solidFill>
              </a:defRPr>
            </a:lvl1pPr>
            <a:lvl2pPr marL="365349" indent="0">
              <a:buNone/>
              <a:defRPr sz="1598">
                <a:solidFill>
                  <a:schemeClr val="tx1">
                    <a:tint val="82000"/>
                  </a:schemeClr>
                </a:solidFill>
              </a:defRPr>
            </a:lvl2pPr>
            <a:lvl3pPr marL="730697" indent="0">
              <a:buNone/>
              <a:defRPr sz="1438">
                <a:solidFill>
                  <a:schemeClr val="tx1">
                    <a:tint val="82000"/>
                  </a:schemeClr>
                </a:solidFill>
              </a:defRPr>
            </a:lvl3pPr>
            <a:lvl4pPr marL="1096046" indent="0">
              <a:buNone/>
              <a:defRPr sz="1279">
                <a:solidFill>
                  <a:schemeClr val="tx1">
                    <a:tint val="82000"/>
                  </a:schemeClr>
                </a:solidFill>
              </a:defRPr>
            </a:lvl4pPr>
            <a:lvl5pPr marL="1461394" indent="0">
              <a:buNone/>
              <a:defRPr sz="1279">
                <a:solidFill>
                  <a:schemeClr val="tx1">
                    <a:tint val="82000"/>
                  </a:schemeClr>
                </a:solidFill>
              </a:defRPr>
            </a:lvl5pPr>
            <a:lvl6pPr marL="1826743" indent="0">
              <a:buNone/>
              <a:defRPr sz="1279">
                <a:solidFill>
                  <a:schemeClr val="tx1">
                    <a:tint val="82000"/>
                  </a:schemeClr>
                </a:solidFill>
              </a:defRPr>
            </a:lvl6pPr>
            <a:lvl7pPr marL="2192091" indent="0">
              <a:buNone/>
              <a:defRPr sz="1279">
                <a:solidFill>
                  <a:schemeClr val="tx1">
                    <a:tint val="82000"/>
                  </a:schemeClr>
                </a:solidFill>
              </a:defRPr>
            </a:lvl7pPr>
            <a:lvl8pPr marL="2557440" indent="0">
              <a:buNone/>
              <a:defRPr sz="1279">
                <a:solidFill>
                  <a:schemeClr val="tx1">
                    <a:tint val="82000"/>
                  </a:schemeClr>
                </a:solidFill>
              </a:defRPr>
            </a:lvl8pPr>
            <a:lvl9pPr marL="2922788" indent="0">
              <a:buNone/>
              <a:defRPr sz="1279">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B6FED69-E6D8-4282-B7EE-C0DC9DFC653D}" type="datetimeFigureOut">
              <a:rPr lang="fr-MA" smtClean="0"/>
              <a:t>04/10/2026</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1552545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502374" y="4791843"/>
            <a:ext cx="3105587" cy="1142125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699302" y="4791843"/>
            <a:ext cx="3105587" cy="1142125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8B6FED69-E6D8-4282-B7EE-C0DC9DFC653D}" type="datetimeFigureOut">
              <a:rPr lang="fr-MA" smtClean="0"/>
              <a:t>04/10/2026</a:t>
            </a:fld>
            <a:endParaRPr lang="fr-MA"/>
          </a:p>
        </p:txBody>
      </p:sp>
      <p:sp>
        <p:nvSpPr>
          <p:cNvPr id="6" name="Footer Placeholder 5"/>
          <p:cNvSpPr>
            <a:spLocks noGrp="1"/>
          </p:cNvSpPr>
          <p:nvPr>
            <p:ph type="ftr" sz="quarter" idx="11"/>
          </p:nvPr>
        </p:nvSpPr>
        <p:spPr/>
        <p:txBody>
          <a:bodyPr/>
          <a:lstStyle/>
          <a:p>
            <a:endParaRPr lang="fr-MA"/>
          </a:p>
        </p:txBody>
      </p:sp>
      <p:sp>
        <p:nvSpPr>
          <p:cNvPr id="7" name="Slide Number Placeholder 6"/>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2502057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503326" y="958373"/>
            <a:ext cx="6302514" cy="3479296"/>
          </a:xfrm>
        </p:spPr>
        <p:txBody>
          <a:bodyPr/>
          <a:lstStyle/>
          <a:p>
            <a:r>
              <a:rPr lang="fr-FR"/>
              <a:t>Modifiez le style du titre</a:t>
            </a:r>
            <a:endParaRPr lang="en-US" dirty="0"/>
          </a:p>
        </p:txBody>
      </p:sp>
      <p:sp>
        <p:nvSpPr>
          <p:cNvPr id="3" name="Text Placeholder 2"/>
          <p:cNvSpPr>
            <a:spLocks noGrp="1"/>
          </p:cNvSpPr>
          <p:nvPr>
            <p:ph type="body" idx="1"/>
          </p:nvPr>
        </p:nvSpPr>
        <p:spPr>
          <a:xfrm>
            <a:off x="503327" y="4412664"/>
            <a:ext cx="3091314" cy="2162578"/>
          </a:xfrm>
        </p:spPr>
        <p:txBody>
          <a:bodyPr anchor="b"/>
          <a:lstStyle>
            <a:lvl1pPr marL="0" indent="0">
              <a:buNone/>
              <a:defRPr sz="1918" b="1"/>
            </a:lvl1pPr>
            <a:lvl2pPr marL="365349" indent="0">
              <a:buNone/>
              <a:defRPr sz="1598" b="1"/>
            </a:lvl2pPr>
            <a:lvl3pPr marL="730697" indent="0">
              <a:buNone/>
              <a:defRPr sz="1438" b="1"/>
            </a:lvl3pPr>
            <a:lvl4pPr marL="1096046" indent="0">
              <a:buNone/>
              <a:defRPr sz="1279" b="1"/>
            </a:lvl4pPr>
            <a:lvl5pPr marL="1461394" indent="0">
              <a:buNone/>
              <a:defRPr sz="1279" b="1"/>
            </a:lvl5pPr>
            <a:lvl6pPr marL="1826743" indent="0">
              <a:buNone/>
              <a:defRPr sz="1279" b="1"/>
            </a:lvl6pPr>
            <a:lvl7pPr marL="2192091" indent="0">
              <a:buNone/>
              <a:defRPr sz="1279" b="1"/>
            </a:lvl7pPr>
            <a:lvl8pPr marL="2557440" indent="0">
              <a:buNone/>
              <a:defRPr sz="1279" b="1"/>
            </a:lvl8pPr>
            <a:lvl9pPr marL="2922788" indent="0">
              <a:buNone/>
              <a:defRPr sz="1279" b="1"/>
            </a:lvl9pPr>
          </a:lstStyle>
          <a:p>
            <a:pPr lvl="0"/>
            <a:r>
              <a:rPr lang="fr-FR"/>
              <a:t>Cliquez pour modifier les styles du texte du masque</a:t>
            </a:r>
          </a:p>
        </p:txBody>
      </p:sp>
      <p:sp>
        <p:nvSpPr>
          <p:cNvPr id="4" name="Content Placeholder 3"/>
          <p:cNvSpPr>
            <a:spLocks noGrp="1"/>
          </p:cNvSpPr>
          <p:nvPr>
            <p:ph sz="half" idx="2"/>
          </p:nvPr>
        </p:nvSpPr>
        <p:spPr>
          <a:xfrm>
            <a:off x="503327" y="6575242"/>
            <a:ext cx="3091314" cy="967119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699302" y="4412664"/>
            <a:ext cx="3106539" cy="2162578"/>
          </a:xfrm>
        </p:spPr>
        <p:txBody>
          <a:bodyPr anchor="b"/>
          <a:lstStyle>
            <a:lvl1pPr marL="0" indent="0">
              <a:buNone/>
              <a:defRPr sz="1918" b="1"/>
            </a:lvl1pPr>
            <a:lvl2pPr marL="365349" indent="0">
              <a:buNone/>
              <a:defRPr sz="1598" b="1"/>
            </a:lvl2pPr>
            <a:lvl3pPr marL="730697" indent="0">
              <a:buNone/>
              <a:defRPr sz="1438" b="1"/>
            </a:lvl3pPr>
            <a:lvl4pPr marL="1096046" indent="0">
              <a:buNone/>
              <a:defRPr sz="1279" b="1"/>
            </a:lvl4pPr>
            <a:lvl5pPr marL="1461394" indent="0">
              <a:buNone/>
              <a:defRPr sz="1279" b="1"/>
            </a:lvl5pPr>
            <a:lvl6pPr marL="1826743" indent="0">
              <a:buNone/>
              <a:defRPr sz="1279" b="1"/>
            </a:lvl6pPr>
            <a:lvl7pPr marL="2192091" indent="0">
              <a:buNone/>
              <a:defRPr sz="1279" b="1"/>
            </a:lvl7pPr>
            <a:lvl8pPr marL="2557440" indent="0">
              <a:buNone/>
              <a:defRPr sz="1279" b="1"/>
            </a:lvl8pPr>
            <a:lvl9pPr marL="2922788" indent="0">
              <a:buNone/>
              <a:defRPr sz="1279" b="1"/>
            </a:lvl9pPr>
          </a:lstStyle>
          <a:p>
            <a:pPr lvl="0"/>
            <a:r>
              <a:rPr lang="fr-FR"/>
              <a:t>Cliquez pour modifier les styles du texte du masque</a:t>
            </a:r>
          </a:p>
        </p:txBody>
      </p:sp>
      <p:sp>
        <p:nvSpPr>
          <p:cNvPr id="6" name="Content Placeholder 5"/>
          <p:cNvSpPr>
            <a:spLocks noGrp="1"/>
          </p:cNvSpPr>
          <p:nvPr>
            <p:ph sz="quarter" idx="4"/>
          </p:nvPr>
        </p:nvSpPr>
        <p:spPr>
          <a:xfrm>
            <a:off x="3699302" y="6575242"/>
            <a:ext cx="3106539" cy="967119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B6FED69-E6D8-4282-B7EE-C0DC9DFC653D}" type="datetimeFigureOut">
              <a:rPr lang="fr-MA" smtClean="0"/>
              <a:t>04/10/2026</a:t>
            </a:fld>
            <a:endParaRPr lang="fr-MA"/>
          </a:p>
        </p:txBody>
      </p:sp>
      <p:sp>
        <p:nvSpPr>
          <p:cNvPr id="8" name="Footer Placeholder 7"/>
          <p:cNvSpPr>
            <a:spLocks noGrp="1"/>
          </p:cNvSpPr>
          <p:nvPr>
            <p:ph type="ftr" sz="quarter" idx="11"/>
          </p:nvPr>
        </p:nvSpPr>
        <p:spPr/>
        <p:txBody>
          <a:bodyPr/>
          <a:lstStyle/>
          <a:p>
            <a:endParaRPr lang="fr-MA"/>
          </a:p>
        </p:txBody>
      </p:sp>
      <p:sp>
        <p:nvSpPr>
          <p:cNvPr id="9" name="Slide Number Placeholder 8"/>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2420839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B6FED69-E6D8-4282-B7EE-C0DC9DFC653D}" type="datetimeFigureOut">
              <a:rPr lang="fr-MA" smtClean="0"/>
              <a:t>04/10/2026</a:t>
            </a:fld>
            <a:endParaRPr lang="fr-MA"/>
          </a:p>
        </p:txBody>
      </p:sp>
      <p:sp>
        <p:nvSpPr>
          <p:cNvPr id="4" name="Footer Placeholder 3"/>
          <p:cNvSpPr>
            <a:spLocks noGrp="1"/>
          </p:cNvSpPr>
          <p:nvPr>
            <p:ph type="ftr" sz="quarter" idx="11"/>
          </p:nvPr>
        </p:nvSpPr>
        <p:spPr/>
        <p:txBody>
          <a:bodyPr/>
          <a:lstStyle/>
          <a:p>
            <a:endParaRPr lang="fr-MA"/>
          </a:p>
        </p:txBody>
      </p:sp>
      <p:sp>
        <p:nvSpPr>
          <p:cNvPr id="5" name="Slide Number Placeholder 4"/>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272365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6FED69-E6D8-4282-B7EE-C0DC9DFC653D}" type="datetimeFigureOut">
              <a:rPr lang="fr-MA" smtClean="0"/>
              <a:t>04/10/2026</a:t>
            </a:fld>
            <a:endParaRPr lang="fr-MA"/>
          </a:p>
        </p:txBody>
      </p:sp>
      <p:sp>
        <p:nvSpPr>
          <p:cNvPr id="3" name="Footer Placeholder 2"/>
          <p:cNvSpPr>
            <a:spLocks noGrp="1"/>
          </p:cNvSpPr>
          <p:nvPr>
            <p:ph type="ftr" sz="quarter" idx="11"/>
          </p:nvPr>
        </p:nvSpPr>
        <p:spPr/>
        <p:txBody>
          <a:bodyPr/>
          <a:lstStyle/>
          <a:p>
            <a:endParaRPr lang="fr-MA"/>
          </a:p>
        </p:txBody>
      </p:sp>
      <p:sp>
        <p:nvSpPr>
          <p:cNvPr id="4" name="Slide Number Placeholder 3"/>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3426193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03326" y="1200044"/>
            <a:ext cx="2356783" cy="4200155"/>
          </a:xfrm>
        </p:spPr>
        <p:txBody>
          <a:bodyPr anchor="b"/>
          <a:lstStyle>
            <a:lvl1pPr>
              <a:defRPr sz="2557"/>
            </a:lvl1pPr>
          </a:lstStyle>
          <a:p>
            <a:r>
              <a:rPr lang="fr-FR"/>
              <a:t>Modifiez le style du titre</a:t>
            </a:r>
            <a:endParaRPr lang="en-US" dirty="0"/>
          </a:p>
        </p:txBody>
      </p:sp>
      <p:sp>
        <p:nvSpPr>
          <p:cNvPr id="3" name="Content Placeholder 2"/>
          <p:cNvSpPr>
            <a:spLocks noGrp="1"/>
          </p:cNvSpPr>
          <p:nvPr>
            <p:ph idx="1"/>
          </p:nvPr>
        </p:nvSpPr>
        <p:spPr>
          <a:xfrm>
            <a:off x="3106538" y="2591766"/>
            <a:ext cx="3699302" cy="12792138"/>
          </a:xfrm>
        </p:spPr>
        <p:txBody>
          <a:bodyPr/>
          <a:lstStyle>
            <a:lvl1pPr>
              <a:defRPr sz="2557"/>
            </a:lvl1pPr>
            <a:lvl2pPr>
              <a:defRPr sz="2237"/>
            </a:lvl2pPr>
            <a:lvl3pPr>
              <a:defRPr sz="1918"/>
            </a:lvl3pPr>
            <a:lvl4pPr>
              <a:defRPr sz="1598"/>
            </a:lvl4pPr>
            <a:lvl5pPr>
              <a:defRPr sz="1598"/>
            </a:lvl5pPr>
            <a:lvl6pPr>
              <a:defRPr sz="1598"/>
            </a:lvl6pPr>
            <a:lvl7pPr>
              <a:defRPr sz="1598"/>
            </a:lvl7pPr>
            <a:lvl8pPr>
              <a:defRPr sz="1598"/>
            </a:lvl8pPr>
            <a:lvl9pPr>
              <a:defRPr sz="1598"/>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03326" y="5400199"/>
            <a:ext cx="2356783" cy="10004536"/>
          </a:xfrm>
        </p:spPr>
        <p:txBody>
          <a:bodyPr/>
          <a:lstStyle>
            <a:lvl1pPr marL="0" indent="0">
              <a:buNone/>
              <a:defRPr sz="1279"/>
            </a:lvl1pPr>
            <a:lvl2pPr marL="365349" indent="0">
              <a:buNone/>
              <a:defRPr sz="1119"/>
            </a:lvl2pPr>
            <a:lvl3pPr marL="730697" indent="0">
              <a:buNone/>
              <a:defRPr sz="959"/>
            </a:lvl3pPr>
            <a:lvl4pPr marL="1096046" indent="0">
              <a:buNone/>
              <a:defRPr sz="799"/>
            </a:lvl4pPr>
            <a:lvl5pPr marL="1461394" indent="0">
              <a:buNone/>
              <a:defRPr sz="799"/>
            </a:lvl5pPr>
            <a:lvl6pPr marL="1826743" indent="0">
              <a:buNone/>
              <a:defRPr sz="799"/>
            </a:lvl6pPr>
            <a:lvl7pPr marL="2192091" indent="0">
              <a:buNone/>
              <a:defRPr sz="799"/>
            </a:lvl7pPr>
            <a:lvl8pPr marL="2557440" indent="0">
              <a:buNone/>
              <a:defRPr sz="799"/>
            </a:lvl8pPr>
            <a:lvl9pPr marL="2922788" indent="0">
              <a:buNone/>
              <a:defRPr sz="799"/>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B6FED69-E6D8-4282-B7EE-C0DC9DFC653D}" type="datetimeFigureOut">
              <a:rPr lang="fr-MA" smtClean="0"/>
              <a:t>04/10/2026</a:t>
            </a:fld>
            <a:endParaRPr lang="fr-MA"/>
          </a:p>
        </p:txBody>
      </p:sp>
      <p:sp>
        <p:nvSpPr>
          <p:cNvPr id="6" name="Footer Placeholder 5"/>
          <p:cNvSpPr>
            <a:spLocks noGrp="1"/>
          </p:cNvSpPr>
          <p:nvPr>
            <p:ph type="ftr" sz="quarter" idx="11"/>
          </p:nvPr>
        </p:nvSpPr>
        <p:spPr/>
        <p:txBody>
          <a:bodyPr/>
          <a:lstStyle/>
          <a:p>
            <a:endParaRPr lang="fr-MA"/>
          </a:p>
        </p:txBody>
      </p:sp>
      <p:sp>
        <p:nvSpPr>
          <p:cNvPr id="7" name="Slide Number Placeholder 6"/>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3318031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03326" y="1200044"/>
            <a:ext cx="2356783" cy="4200155"/>
          </a:xfrm>
        </p:spPr>
        <p:txBody>
          <a:bodyPr anchor="b"/>
          <a:lstStyle>
            <a:lvl1pPr>
              <a:defRPr sz="2557"/>
            </a:lvl1pPr>
          </a:lstStyle>
          <a:p>
            <a:r>
              <a:rPr lang="fr-FR"/>
              <a:t>Modifiez le style du titre</a:t>
            </a:r>
            <a:endParaRPr lang="en-US" dirty="0"/>
          </a:p>
        </p:txBody>
      </p:sp>
      <p:sp>
        <p:nvSpPr>
          <p:cNvPr id="3" name="Picture Placeholder 2"/>
          <p:cNvSpPr>
            <a:spLocks noGrp="1" noChangeAspect="1"/>
          </p:cNvSpPr>
          <p:nvPr>
            <p:ph type="pic" idx="1"/>
          </p:nvPr>
        </p:nvSpPr>
        <p:spPr>
          <a:xfrm>
            <a:off x="3106538" y="2591766"/>
            <a:ext cx="3699302" cy="12792138"/>
          </a:xfrm>
        </p:spPr>
        <p:txBody>
          <a:bodyPr anchor="t"/>
          <a:lstStyle>
            <a:lvl1pPr marL="0" indent="0">
              <a:buNone/>
              <a:defRPr sz="2557"/>
            </a:lvl1pPr>
            <a:lvl2pPr marL="365349" indent="0">
              <a:buNone/>
              <a:defRPr sz="2237"/>
            </a:lvl2pPr>
            <a:lvl3pPr marL="730697" indent="0">
              <a:buNone/>
              <a:defRPr sz="1918"/>
            </a:lvl3pPr>
            <a:lvl4pPr marL="1096046" indent="0">
              <a:buNone/>
              <a:defRPr sz="1598"/>
            </a:lvl4pPr>
            <a:lvl5pPr marL="1461394" indent="0">
              <a:buNone/>
              <a:defRPr sz="1598"/>
            </a:lvl5pPr>
            <a:lvl6pPr marL="1826743" indent="0">
              <a:buNone/>
              <a:defRPr sz="1598"/>
            </a:lvl6pPr>
            <a:lvl7pPr marL="2192091" indent="0">
              <a:buNone/>
              <a:defRPr sz="1598"/>
            </a:lvl7pPr>
            <a:lvl8pPr marL="2557440" indent="0">
              <a:buNone/>
              <a:defRPr sz="1598"/>
            </a:lvl8pPr>
            <a:lvl9pPr marL="2922788" indent="0">
              <a:buNone/>
              <a:defRPr sz="1598"/>
            </a:lvl9pPr>
          </a:lstStyle>
          <a:p>
            <a:endParaRPr lang="en-US" dirty="0"/>
          </a:p>
        </p:txBody>
      </p:sp>
      <p:sp>
        <p:nvSpPr>
          <p:cNvPr id="4" name="Text Placeholder 3"/>
          <p:cNvSpPr>
            <a:spLocks noGrp="1"/>
          </p:cNvSpPr>
          <p:nvPr>
            <p:ph type="body" sz="half" idx="2"/>
          </p:nvPr>
        </p:nvSpPr>
        <p:spPr>
          <a:xfrm>
            <a:off x="503326" y="5400199"/>
            <a:ext cx="2356783" cy="10004536"/>
          </a:xfrm>
        </p:spPr>
        <p:txBody>
          <a:bodyPr/>
          <a:lstStyle>
            <a:lvl1pPr marL="0" indent="0">
              <a:buNone/>
              <a:defRPr sz="1279"/>
            </a:lvl1pPr>
            <a:lvl2pPr marL="365349" indent="0">
              <a:buNone/>
              <a:defRPr sz="1119"/>
            </a:lvl2pPr>
            <a:lvl3pPr marL="730697" indent="0">
              <a:buNone/>
              <a:defRPr sz="959"/>
            </a:lvl3pPr>
            <a:lvl4pPr marL="1096046" indent="0">
              <a:buNone/>
              <a:defRPr sz="799"/>
            </a:lvl4pPr>
            <a:lvl5pPr marL="1461394" indent="0">
              <a:buNone/>
              <a:defRPr sz="799"/>
            </a:lvl5pPr>
            <a:lvl6pPr marL="1826743" indent="0">
              <a:buNone/>
              <a:defRPr sz="799"/>
            </a:lvl6pPr>
            <a:lvl7pPr marL="2192091" indent="0">
              <a:buNone/>
              <a:defRPr sz="799"/>
            </a:lvl7pPr>
            <a:lvl8pPr marL="2557440" indent="0">
              <a:buNone/>
              <a:defRPr sz="799"/>
            </a:lvl8pPr>
            <a:lvl9pPr marL="2922788" indent="0">
              <a:buNone/>
              <a:defRPr sz="799"/>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B6FED69-E6D8-4282-B7EE-C0DC9DFC653D}" type="datetimeFigureOut">
              <a:rPr lang="fr-MA" smtClean="0"/>
              <a:t>04/10/2026</a:t>
            </a:fld>
            <a:endParaRPr lang="fr-MA"/>
          </a:p>
        </p:txBody>
      </p:sp>
      <p:sp>
        <p:nvSpPr>
          <p:cNvPr id="6" name="Footer Placeholder 5"/>
          <p:cNvSpPr>
            <a:spLocks noGrp="1"/>
          </p:cNvSpPr>
          <p:nvPr>
            <p:ph type="ftr" sz="quarter" idx="11"/>
          </p:nvPr>
        </p:nvSpPr>
        <p:spPr/>
        <p:txBody>
          <a:bodyPr/>
          <a:lstStyle/>
          <a:p>
            <a:endParaRPr lang="fr-MA"/>
          </a:p>
        </p:txBody>
      </p:sp>
      <p:sp>
        <p:nvSpPr>
          <p:cNvPr id="7" name="Slide Number Placeholder 6"/>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41115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B6FED69-E6D8-4282-B7EE-C0DC9DFC653D}" type="datetimeFigureOut">
              <a:rPr lang="fr-MA" smtClean="0"/>
              <a:t>04/10/2026</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1413641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229260" y="958369"/>
            <a:ext cx="1575629" cy="1525473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502375" y="958369"/>
            <a:ext cx="4635545" cy="1525473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B6FED69-E6D8-4282-B7EE-C0DC9DFC653D}" type="datetimeFigureOut">
              <a:rPr lang="fr-MA" smtClean="0"/>
              <a:t>04/10/2026</a:t>
            </a:fld>
            <a:endParaRPr lang="fr-MA"/>
          </a:p>
        </p:txBody>
      </p:sp>
      <p:sp>
        <p:nvSpPr>
          <p:cNvPr id="5" name="Footer Placeholder 4"/>
          <p:cNvSpPr>
            <a:spLocks noGrp="1"/>
          </p:cNvSpPr>
          <p:nvPr>
            <p:ph type="ftr" sz="quarter" idx="11"/>
          </p:nvPr>
        </p:nvSpPr>
        <p:spPr/>
        <p:txBody>
          <a:bodyPr/>
          <a:lstStyle/>
          <a:p>
            <a:endParaRPr lang="fr-MA"/>
          </a:p>
        </p:txBody>
      </p:sp>
      <p:sp>
        <p:nvSpPr>
          <p:cNvPr id="6" name="Slide Number Placeholder 5"/>
          <p:cNvSpPr>
            <a:spLocks noGrp="1"/>
          </p:cNvSpPr>
          <p:nvPr>
            <p:ph type="sldNum" sz="quarter" idx="12"/>
          </p:nvPr>
        </p:nvSpPr>
        <p:spPr/>
        <p:txBody>
          <a:bodyPr/>
          <a:lstStyle/>
          <a:p>
            <a:fld id="{62933AC2-9251-4DD5-909C-5BA14EB52A26}" type="slidenum">
              <a:rPr lang="fr-MA" smtClean="0"/>
              <a:t>‹N°›</a:t>
            </a:fld>
            <a:endParaRPr lang="fr-MA"/>
          </a:p>
        </p:txBody>
      </p:sp>
    </p:spTree>
    <p:extLst>
      <p:ext uri="{BB962C8B-B14F-4D97-AF65-F5344CB8AC3E}">
        <p14:creationId xmlns:p14="http://schemas.microsoft.com/office/powerpoint/2010/main" val="1620400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2375" y="958373"/>
            <a:ext cx="6302514" cy="3479296"/>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502375" y="4791843"/>
            <a:ext cx="6302514" cy="11421255"/>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02374" y="16683952"/>
            <a:ext cx="1644134" cy="958369"/>
          </a:xfrm>
          <a:prstGeom prst="rect">
            <a:avLst/>
          </a:prstGeom>
        </p:spPr>
        <p:txBody>
          <a:bodyPr vert="horz" lIns="91440" tIns="45720" rIns="91440" bIns="45720" rtlCol="0" anchor="ctr"/>
          <a:lstStyle>
            <a:lvl1pPr algn="l">
              <a:defRPr sz="959">
                <a:solidFill>
                  <a:schemeClr val="tx1">
                    <a:tint val="82000"/>
                  </a:schemeClr>
                </a:solidFill>
              </a:defRPr>
            </a:lvl1pPr>
          </a:lstStyle>
          <a:p>
            <a:fld id="{8B6FED69-E6D8-4282-B7EE-C0DC9DFC653D}" type="datetimeFigureOut">
              <a:rPr lang="fr-MA" smtClean="0"/>
              <a:t>04/10/2026</a:t>
            </a:fld>
            <a:endParaRPr lang="fr-MA"/>
          </a:p>
        </p:txBody>
      </p:sp>
      <p:sp>
        <p:nvSpPr>
          <p:cNvPr id="5" name="Footer Placeholder 4"/>
          <p:cNvSpPr>
            <a:spLocks noGrp="1"/>
          </p:cNvSpPr>
          <p:nvPr>
            <p:ph type="ftr" sz="quarter" idx="3"/>
          </p:nvPr>
        </p:nvSpPr>
        <p:spPr>
          <a:xfrm>
            <a:off x="2420531" y="16683952"/>
            <a:ext cx="2466201" cy="958369"/>
          </a:xfrm>
          <a:prstGeom prst="rect">
            <a:avLst/>
          </a:prstGeom>
        </p:spPr>
        <p:txBody>
          <a:bodyPr vert="horz" lIns="91440" tIns="45720" rIns="91440" bIns="45720" rtlCol="0" anchor="ctr"/>
          <a:lstStyle>
            <a:lvl1pPr algn="ctr">
              <a:defRPr sz="959">
                <a:solidFill>
                  <a:schemeClr val="tx1">
                    <a:tint val="82000"/>
                  </a:schemeClr>
                </a:solidFill>
              </a:defRPr>
            </a:lvl1pPr>
          </a:lstStyle>
          <a:p>
            <a:endParaRPr lang="fr-MA"/>
          </a:p>
        </p:txBody>
      </p:sp>
      <p:sp>
        <p:nvSpPr>
          <p:cNvPr id="6" name="Slide Number Placeholder 5"/>
          <p:cNvSpPr>
            <a:spLocks noGrp="1"/>
          </p:cNvSpPr>
          <p:nvPr>
            <p:ph type="sldNum" sz="quarter" idx="4"/>
          </p:nvPr>
        </p:nvSpPr>
        <p:spPr>
          <a:xfrm>
            <a:off x="5160755" y="16683952"/>
            <a:ext cx="1644134" cy="958369"/>
          </a:xfrm>
          <a:prstGeom prst="rect">
            <a:avLst/>
          </a:prstGeom>
        </p:spPr>
        <p:txBody>
          <a:bodyPr vert="horz" lIns="91440" tIns="45720" rIns="91440" bIns="45720" rtlCol="0" anchor="ctr"/>
          <a:lstStyle>
            <a:lvl1pPr algn="r">
              <a:defRPr sz="959">
                <a:solidFill>
                  <a:schemeClr val="tx1">
                    <a:tint val="82000"/>
                  </a:schemeClr>
                </a:solidFill>
              </a:defRPr>
            </a:lvl1pPr>
          </a:lstStyle>
          <a:p>
            <a:fld id="{62933AC2-9251-4DD5-909C-5BA14EB52A26}" type="slidenum">
              <a:rPr lang="fr-MA" smtClean="0"/>
              <a:t>‹N°›</a:t>
            </a:fld>
            <a:endParaRPr lang="fr-MA"/>
          </a:p>
        </p:txBody>
      </p:sp>
    </p:spTree>
    <p:extLst>
      <p:ext uri="{BB962C8B-B14F-4D97-AF65-F5344CB8AC3E}">
        <p14:creationId xmlns:p14="http://schemas.microsoft.com/office/powerpoint/2010/main" val="18583947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30697" rtl="0" eaLnBrk="1" latinLnBrk="0" hangingPunct="1">
        <a:lnSpc>
          <a:spcPct val="90000"/>
        </a:lnSpc>
        <a:spcBef>
          <a:spcPct val="0"/>
        </a:spcBef>
        <a:buNone/>
        <a:defRPr sz="3516" kern="1200">
          <a:solidFill>
            <a:schemeClr val="tx1"/>
          </a:solidFill>
          <a:latin typeface="+mj-lt"/>
          <a:ea typeface="+mj-ea"/>
          <a:cs typeface="+mj-cs"/>
        </a:defRPr>
      </a:lvl1pPr>
    </p:titleStyle>
    <p:bodyStyle>
      <a:lvl1pPr marL="182674" indent="-182674" algn="l" defTabSz="730697" rtl="0" eaLnBrk="1" latinLnBrk="0" hangingPunct="1">
        <a:lnSpc>
          <a:spcPct val="90000"/>
        </a:lnSpc>
        <a:spcBef>
          <a:spcPts val="799"/>
        </a:spcBef>
        <a:buFont typeface="Arial" panose="020B0604020202020204" pitchFamily="34" charset="0"/>
        <a:buChar char="•"/>
        <a:defRPr sz="2237" kern="1200">
          <a:solidFill>
            <a:schemeClr val="tx1"/>
          </a:solidFill>
          <a:latin typeface="+mn-lt"/>
          <a:ea typeface="+mn-ea"/>
          <a:cs typeface="+mn-cs"/>
        </a:defRPr>
      </a:lvl1pPr>
      <a:lvl2pPr marL="548023" indent="-182674" algn="l" defTabSz="730697" rtl="0" eaLnBrk="1" latinLnBrk="0" hangingPunct="1">
        <a:lnSpc>
          <a:spcPct val="90000"/>
        </a:lnSpc>
        <a:spcBef>
          <a:spcPts val="400"/>
        </a:spcBef>
        <a:buFont typeface="Arial" panose="020B0604020202020204" pitchFamily="34" charset="0"/>
        <a:buChar char="•"/>
        <a:defRPr sz="1918" kern="1200">
          <a:solidFill>
            <a:schemeClr val="tx1"/>
          </a:solidFill>
          <a:latin typeface="+mn-lt"/>
          <a:ea typeface="+mn-ea"/>
          <a:cs typeface="+mn-cs"/>
        </a:defRPr>
      </a:lvl2pPr>
      <a:lvl3pPr marL="913371" indent="-182674" algn="l" defTabSz="730697" rtl="0" eaLnBrk="1" latinLnBrk="0" hangingPunct="1">
        <a:lnSpc>
          <a:spcPct val="90000"/>
        </a:lnSpc>
        <a:spcBef>
          <a:spcPts val="400"/>
        </a:spcBef>
        <a:buFont typeface="Arial" panose="020B0604020202020204" pitchFamily="34" charset="0"/>
        <a:buChar char="•"/>
        <a:defRPr sz="1598" kern="1200">
          <a:solidFill>
            <a:schemeClr val="tx1"/>
          </a:solidFill>
          <a:latin typeface="+mn-lt"/>
          <a:ea typeface="+mn-ea"/>
          <a:cs typeface="+mn-cs"/>
        </a:defRPr>
      </a:lvl3pPr>
      <a:lvl4pPr marL="1278720" indent="-182674" algn="l" defTabSz="730697" rtl="0" eaLnBrk="1" latinLnBrk="0" hangingPunct="1">
        <a:lnSpc>
          <a:spcPct val="90000"/>
        </a:lnSpc>
        <a:spcBef>
          <a:spcPts val="400"/>
        </a:spcBef>
        <a:buFont typeface="Arial" panose="020B0604020202020204" pitchFamily="34" charset="0"/>
        <a:buChar char="•"/>
        <a:defRPr sz="1438" kern="1200">
          <a:solidFill>
            <a:schemeClr val="tx1"/>
          </a:solidFill>
          <a:latin typeface="+mn-lt"/>
          <a:ea typeface="+mn-ea"/>
          <a:cs typeface="+mn-cs"/>
        </a:defRPr>
      </a:lvl4pPr>
      <a:lvl5pPr marL="1644068" indent="-182674" algn="l" defTabSz="730697" rtl="0" eaLnBrk="1" latinLnBrk="0" hangingPunct="1">
        <a:lnSpc>
          <a:spcPct val="90000"/>
        </a:lnSpc>
        <a:spcBef>
          <a:spcPts val="400"/>
        </a:spcBef>
        <a:buFont typeface="Arial" panose="020B0604020202020204" pitchFamily="34" charset="0"/>
        <a:buChar char="•"/>
        <a:defRPr sz="1438" kern="1200">
          <a:solidFill>
            <a:schemeClr val="tx1"/>
          </a:solidFill>
          <a:latin typeface="+mn-lt"/>
          <a:ea typeface="+mn-ea"/>
          <a:cs typeface="+mn-cs"/>
        </a:defRPr>
      </a:lvl5pPr>
      <a:lvl6pPr marL="2009417" indent="-182674" algn="l" defTabSz="730697" rtl="0" eaLnBrk="1" latinLnBrk="0" hangingPunct="1">
        <a:lnSpc>
          <a:spcPct val="90000"/>
        </a:lnSpc>
        <a:spcBef>
          <a:spcPts val="400"/>
        </a:spcBef>
        <a:buFont typeface="Arial" panose="020B0604020202020204" pitchFamily="34" charset="0"/>
        <a:buChar char="•"/>
        <a:defRPr sz="1438" kern="1200">
          <a:solidFill>
            <a:schemeClr val="tx1"/>
          </a:solidFill>
          <a:latin typeface="+mn-lt"/>
          <a:ea typeface="+mn-ea"/>
          <a:cs typeface="+mn-cs"/>
        </a:defRPr>
      </a:lvl6pPr>
      <a:lvl7pPr marL="2374765" indent="-182674" algn="l" defTabSz="730697" rtl="0" eaLnBrk="1" latinLnBrk="0" hangingPunct="1">
        <a:lnSpc>
          <a:spcPct val="90000"/>
        </a:lnSpc>
        <a:spcBef>
          <a:spcPts val="400"/>
        </a:spcBef>
        <a:buFont typeface="Arial" panose="020B0604020202020204" pitchFamily="34" charset="0"/>
        <a:buChar char="•"/>
        <a:defRPr sz="1438" kern="1200">
          <a:solidFill>
            <a:schemeClr val="tx1"/>
          </a:solidFill>
          <a:latin typeface="+mn-lt"/>
          <a:ea typeface="+mn-ea"/>
          <a:cs typeface="+mn-cs"/>
        </a:defRPr>
      </a:lvl7pPr>
      <a:lvl8pPr marL="2740114" indent="-182674" algn="l" defTabSz="730697" rtl="0" eaLnBrk="1" latinLnBrk="0" hangingPunct="1">
        <a:lnSpc>
          <a:spcPct val="90000"/>
        </a:lnSpc>
        <a:spcBef>
          <a:spcPts val="400"/>
        </a:spcBef>
        <a:buFont typeface="Arial" panose="020B0604020202020204" pitchFamily="34" charset="0"/>
        <a:buChar char="•"/>
        <a:defRPr sz="1438" kern="1200">
          <a:solidFill>
            <a:schemeClr val="tx1"/>
          </a:solidFill>
          <a:latin typeface="+mn-lt"/>
          <a:ea typeface="+mn-ea"/>
          <a:cs typeface="+mn-cs"/>
        </a:defRPr>
      </a:lvl8pPr>
      <a:lvl9pPr marL="3105462" indent="-182674" algn="l" defTabSz="730697" rtl="0" eaLnBrk="1" latinLnBrk="0" hangingPunct="1">
        <a:lnSpc>
          <a:spcPct val="90000"/>
        </a:lnSpc>
        <a:spcBef>
          <a:spcPts val="400"/>
        </a:spcBef>
        <a:buFont typeface="Arial" panose="020B0604020202020204" pitchFamily="34" charset="0"/>
        <a:buChar char="•"/>
        <a:defRPr sz="1438" kern="1200">
          <a:solidFill>
            <a:schemeClr val="tx1"/>
          </a:solidFill>
          <a:latin typeface="+mn-lt"/>
          <a:ea typeface="+mn-ea"/>
          <a:cs typeface="+mn-cs"/>
        </a:defRPr>
      </a:lvl9pPr>
    </p:bodyStyle>
    <p:otherStyle>
      <a:defPPr>
        <a:defRPr lang="en-US"/>
      </a:defPPr>
      <a:lvl1pPr marL="0" algn="l" defTabSz="730697" rtl="0" eaLnBrk="1" latinLnBrk="0" hangingPunct="1">
        <a:defRPr sz="1438" kern="1200">
          <a:solidFill>
            <a:schemeClr val="tx1"/>
          </a:solidFill>
          <a:latin typeface="+mn-lt"/>
          <a:ea typeface="+mn-ea"/>
          <a:cs typeface="+mn-cs"/>
        </a:defRPr>
      </a:lvl1pPr>
      <a:lvl2pPr marL="365349" algn="l" defTabSz="730697" rtl="0" eaLnBrk="1" latinLnBrk="0" hangingPunct="1">
        <a:defRPr sz="1438" kern="1200">
          <a:solidFill>
            <a:schemeClr val="tx1"/>
          </a:solidFill>
          <a:latin typeface="+mn-lt"/>
          <a:ea typeface="+mn-ea"/>
          <a:cs typeface="+mn-cs"/>
        </a:defRPr>
      </a:lvl2pPr>
      <a:lvl3pPr marL="730697" algn="l" defTabSz="730697" rtl="0" eaLnBrk="1" latinLnBrk="0" hangingPunct="1">
        <a:defRPr sz="1438" kern="1200">
          <a:solidFill>
            <a:schemeClr val="tx1"/>
          </a:solidFill>
          <a:latin typeface="+mn-lt"/>
          <a:ea typeface="+mn-ea"/>
          <a:cs typeface="+mn-cs"/>
        </a:defRPr>
      </a:lvl3pPr>
      <a:lvl4pPr marL="1096046" algn="l" defTabSz="730697" rtl="0" eaLnBrk="1" latinLnBrk="0" hangingPunct="1">
        <a:defRPr sz="1438" kern="1200">
          <a:solidFill>
            <a:schemeClr val="tx1"/>
          </a:solidFill>
          <a:latin typeface="+mn-lt"/>
          <a:ea typeface="+mn-ea"/>
          <a:cs typeface="+mn-cs"/>
        </a:defRPr>
      </a:lvl4pPr>
      <a:lvl5pPr marL="1461394" algn="l" defTabSz="730697" rtl="0" eaLnBrk="1" latinLnBrk="0" hangingPunct="1">
        <a:defRPr sz="1438" kern="1200">
          <a:solidFill>
            <a:schemeClr val="tx1"/>
          </a:solidFill>
          <a:latin typeface="+mn-lt"/>
          <a:ea typeface="+mn-ea"/>
          <a:cs typeface="+mn-cs"/>
        </a:defRPr>
      </a:lvl5pPr>
      <a:lvl6pPr marL="1826743" algn="l" defTabSz="730697" rtl="0" eaLnBrk="1" latinLnBrk="0" hangingPunct="1">
        <a:defRPr sz="1438" kern="1200">
          <a:solidFill>
            <a:schemeClr val="tx1"/>
          </a:solidFill>
          <a:latin typeface="+mn-lt"/>
          <a:ea typeface="+mn-ea"/>
          <a:cs typeface="+mn-cs"/>
        </a:defRPr>
      </a:lvl6pPr>
      <a:lvl7pPr marL="2192091" algn="l" defTabSz="730697" rtl="0" eaLnBrk="1" latinLnBrk="0" hangingPunct="1">
        <a:defRPr sz="1438" kern="1200">
          <a:solidFill>
            <a:schemeClr val="tx1"/>
          </a:solidFill>
          <a:latin typeface="+mn-lt"/>
          <a:ea typeface="+mn-ea"/>
          <a:cs typeface="+mn-cs"/>
        </a:defRPr>
      </a:lvl7pPr>
      <a:lvl8pPr marL="2557440" algn="l" defTabSz="730697" rtl="0" eaLnBrk="1" latinLnBrk="0" hangingPunct="1">
        <a:defRPr sz="1438" kern="1200">
          <a:solidFill>
            <a:schemeClr val="tx1"/>
          </a:solidFill>
          <a:latin typeface="+mn-lt"/>
          <a:ea typeface="+mn-ea"/>
          <a:cs typeface="+mn-cs"/>
        </a:defRPr>
      </a:lvl8pPr>
      <a:lvl9pPr marL="2922788" algn="l" defTabSz="730697" rtl="0" eaLnBrk="1" latinLnBrk="0" hangingPunct="1">
        <a:defRPr sz="143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76A6992E-E7BC-71C2-502D-8105BCF692E9}"/>
              </a:ext>
            </a:extLst>
          </p:cNvPr>
          <p:cNvSpPr txBox="1"/>
          <p:nvPr/>
        </p:nvSpPr>
        <p:spPr>
          <a:xfrm>
            <a:off x="370703" y="815546"/>
            <a:ext cx="6400800" cy="5909310"/>
          </a:xfrm>
          <a:prstGeom prst="rect">
            <a:avLst/>
          </a:prstGeom>
          <a:noFill/>
        </p:spPr>
        <p:txBody>
          <a:bodyPr wrap="square" rtlCol="0">
            <a:spAutoFit/>
          </a:bodyPr>
          <a:lstStyle/>
          <a:p>
            <a:r>
              <a:rPr lang="fr-MA" b="1" dirty="0"/>
              <a:t>Pourquoi cette conférence ?</a:t>
            </a:r>
          </a:p>
          <a:p>
            <a:r>
              <a:rPr lang="fr-MA" b="1" dirty="0"/>
              <a:t>Un rendez-vous pour anticiper</a:t>
            </a:r>
          </a:p>
          <a:p>
            <a:r>
              <a:rPr lang="fr-MA" dirty="0"/>
              <a:t>La Conférence annuelle ARABCIA 2026, organisée par l’ARABCIA et accueillie au Maroc par l’IIA Maroc, réunira à Rabat les professionnels et les institutions qui contribuent au développement de l’Audit Interne dans le monde arabe et au-delà. Cette édition aura pour thème : </a:t>
            </a:r>
            <a:r>
              <a:rPr lang="fr-MA" b="1" dirty="0"/>
              <a:t>« L’Audit Interne : partenaire de confiance dans la transformation et la résilience des organisations »</a:t>
            </a:r>
            <a:r>
              <a:rPr lang="fr-MA" dirty="0"/>
              <a:t>.</a:t>
            </a:r>
          </a:p>
          <a:p>
            <a:r>
              <a:rPr lang="fr-MA" dirty="0"/>
              <a:t>Face à l’essor de l’intelligence artificielle, aux cybermenaces et aux bouleversements économiques, technologiques et sociaux, les organisations doivent repenser leurs approches de la gouvernance et de la gestion des risques. Dans ce contexte, l’Audit Interne évolue pour apporter un regard prospectif, accompagner les transformations et contribuer à la création de valeur.</a:t>
            </a:r>
          </a:p>
          <a:p>
            <a:r>
              <a:rPr lang="fr-MA" dirty="0"/>
              <a:t>La conférence explorera les réponses concrètes à ces nouveaux défis et montrera comment l’Audit Interne peut renforcer la confiance, la résilience et la performance des organisations, tout en accompagnant leur transformation.</a:t>
            </a:r>
          </a:p>
          <a:p>
            <a:endParaRPr lang="fr-MA" sz="1600" dirty="0"/>
          </a:p>
        </p:txBody>
      </p:sp>
      <p:sp>
        <p:nvSpPr>
          <p:cNvPr id="3" name="ZoneTexte 2">
            <a:extLst>
              <a:ext uri="{FF2B5EF4-FFF2-40B4-BE49-F238E27FC236}">
                <a16:creationId xmlns:a16="http://schemas.microsoft.com/office/drawing/2014/main" id="{318C08F6-929C-DBE4-6B79-A999F9426AAB}"/>
              </a:ext>
            </a:extLst>
          </p:cNvPr>
          <p:cNvSpPr txBox="1"/>
          <p:nvPr/>
        </p:nvSpPr>
        <p:spPr>
          <a:xfrm>
            <a:off x="517890" y="6959150"/>
            <a:ext cx="6052843" cy="5909310"/>
          </a:xfrm>
          <a:prstGeom prst="rect">
            <a:avLst/>
          </a:prstGeom>
          <a:noFill/>
        </p:spPr>
        <p:txBody>
          <a:bodyPr wrap="square" rtlCol="0">
            <a:spAutoFit/>
          </a:bodyPr>
          <a:lstStyle/>
          <a:p>
            <a:r>
              <a:rPr lang="fr-MA" b="1" dirty="0"/>
              <a:t>Why This </a:t>
            </a:r>
            <a:r>
              <a:rPr lang="fr-MA" b="1" dirty="0" err="1"/>
              <a:t>Conference</a:t>
            </a:r>
            <a:r>
              <a:rPr lang="fr-MA" b="1" dirty="0"/>
              <a:t>?</a:t>
            </a:r>
          </a:p>
          <a:p>
            <a:r>
              <a:rPr lang="fr-MA" b="1" dirty="0"/>
              <a:t>A Regional Meeting at the Heart of </a:t>
            </a:r>
            <a:r>
              <a:rPr lang="fr-MA" b="1" dirty="0" err="1"/>
              <a:t>Internal</a:t>
            </a:r>
            <a:r>
              <a:rPr lang="fr-MA" b="1" dirty="0"/>
              <a:t> Audit Challenges</a:t>
            </a:r>
          </a:p>
          <a:p>
            <a:r>
              <a:rPr lang="fr-MA" dirty="0"/>
              <a:t>The ARABCIA </a:t>
            </a:r>
            <a:r>
              <a:rPr lang="fr-MA" dirty="0" err="1"/>
              <a:t>Annual</a:t>
            </a:r>
            <a:r>
              <a:rPr lang="fr-MA" dirty="0"/>
              <a:t> </a:t>
            </a:r>
            <a:r>
              <a:rPr lang="fr-MA" dirty="0" err="1"/>
              <a:t>Conference</a:t>
            </a:r>
            <a:r>
              <a:rPr lang="fr-MA" dirty="0"/>
              <a:t> 2026, </a:t>
            </a:r>
            <a:r>
              <a:rPr lang="fr-MA" dirty="0" err="1"/>
              <a:t>organized</a:t>
            </a:r>
            <a:r>
              <a:rPr lang="fr-MA" dirty="0"/>
              <a:t> by ARABCIA and </a:t>
            </a:r>
            <a:r>
              <a:rPr lang="fr-MA" dirty="0" err="1"/>
              <a:t>hosted</a:t>
            </a:r>
            <a:r>
              <a:rPr lang="fr-MA" dirty="0"/>
              <a:t> in Morocco by IIA Morocco, </a:t>
            </a:r>
            <a:r>
              <a:rPr lang="fr-MA" dirty="0" err="1"/>
              <a:t>will</a:t>
            </a:r>
            <a:r>
              <a:rPr lang="fr-MA" dirty="0"/>
              <a:t> </a:t>
            </a:r>
            <a:r>
              <a:rPr lang="fr-MA" dirty="0" err="1"/>
              <a:t>bring</a:t>
            </a:r>
            <a:r>
              <a:rPr lang="fr-MA" dirty="0"/>
              <a:t> </a:t>
            </a:r>
            <a:r>
              <a:rPr lang="fr-MA" dirty="0" err="1"/>
              <a:t>together</a:t>
            </a:r>
            <a:r>
              <a:rPr lang="fr-MA" dirty="0"/>
              <a:t> in Rabat </a:t>
            </a:r>
            <a:r>
              <a:rPr lang="fr-MA" dirty="0" err="1"/>
              <a:t>professionals</a:t>
            </a:r>
            <a:r>
              <a:rPr lang="fr-MA" dirty="0"/>
              <a:t> and institutions </a:t>
            </a:r>
            <a:r>
              <a:rPr lang="fr-MA" dirty="0" err="1"/>
              <a:t>contributing</a:t>
            </a:r>
            <a:r>
              <a:rPr lang="fr-MA" dirty="0"/>
              <a:t> to the </a:t>
            </a:r>
            <a:r>
              <a:rPr lang="fr-MA" dirty="0" err="1"/>
              <a:t>development</a:t>
            </a:r>
            <a:r>
              <a:rPr lang="fr-MA" dirty="0"/>
              <a:t> of </a:t>
            </a:r>
            <a:r>
              <a:rPr lang="fr-MA" dirty="0" err="1"/>
              <a:t>Internal</a:t>
            </a:r>
            <a:r>
              <a:rPr lang="fr-MA" dirty="0"/>
              <a:t> Audit </a:t>
            </a:r>
            <a:r>
              <a:rPr lang="fr-MA" dirty="0" err="1"/>
              <a:t>across</a:t>
            </a:r>
            <a:r>
              <a:rPr lang="fr-MA" dirty="0"/>
              <a:t> the Arab world and </a:t>
            </a:r>
            <a:r>
              <a:rPr lang="fr-MA" dirty="0" err="1"/>
              <a:t>beyond</a:t>
            </a:r>
            <a:r>
              <a:rPr lang="fr-MA" dirty="0"/>
              <a:t>. This </a:t>
            </a:r>
            <a:r>
              <a:rPr lang="fr-MA" dirty="0" err="1"/>
              <a:t>edition</a:t>
            </a:r>
            <a:r>
              <a:rPr lang="fr-MA" dirty="0"/>
              <a:t> </a:t>
            </a:r>
            <a:r>
              <a:rPr lang="fr-MA" dirty="0" err="1"/>
              <a:t>will</a:t>
            </a:r>
            <a:r>
              <a:rPr lang="fr-MA" dirty="0"/>
              <a:t> focus on the </a:t>
            </a:r>
            <a:r>
              <a:rPr lang="fr-MA" dirty="0" err="1"/>
              <a:t>theme</a:t>
            </a:r>
            <a:r>
              <a:rPr lang="fr-MA" dirty="0"/>
              <a:t>: </a:t>
            </a:r>
            <a:r>
              <a:rPr lang="fr-MA" b="1" dirty="0"/>
              <a:t>“</a:t>
            </a:r>
            <a:r>
              <a:rPr lang="fr-MA" b="1" dirty="0" err="1"/>
              <a:t>Internal</a:t>
            </a:r>
            <a:r>
              <a:rPr lang="fr-MA" b="1" dirty="0"/>
              <a:t> Audit: A </a:t>
            </a:r>
            <a:r>
              <a:rPr lang="fr-MA" b="1" dirty="0" err="1"/>
              <a:t>Trusted</a:t>
            </a:r>
            <a:r>
              <a:rPr lang="fr-MA" b="1" dirty="0"/>
              <a:t> Partner in Organizations’ Transformation and </a:t>
            </a:r>
            <a:r>
              <a:rPr lang="fr-MA" b="1" dirty="0" err="1"/>
              <a:t>Resilience</a:t>
            </a:r>
            <a:r>
              <a:rPr lang="fr-MA" b="1" dirty="0"/>
              <a:t>.”</a:t>
            </a:r>
            <a:endParaRPr lang="fr-MA" dirty="0"/>
          </a:p>
          <a:p>
            <a:r>
              <a:rPr lang="fr-MA" dirty="0"/>
              <a:t>Against the </a:t>
            </a:r>
            <a:r>
              <a:rPr lang="fr-MA" dirty="0" err="1"/>
              <a:t>backdrop</a:t>
            </a:r>
            <a:r>
              <a:rPr lang="fr-MA" dirty="0"/>
              <a:t> of the </a:t>
            </a:r>
            <a:r>
              <a:rPr lang="fr-MA" dirty="0" err="1"/>
              <a:t>rise</a:t>
            </a:r>
            <a:r>
              <a:rPr lang="fr-MA" dirty="0"/>
              <a:t> of </a:t>
            </a:r>
            <a:r>
              <a:rPr lang="fr-MA" dirty="0" err="1"/>
              <a:t>artificial</a:t>
            </a:r>
            <a:r>
              <a:rPr lang="fr-MA" dirty="0"/>
              <a:t> intelligence, cyber </a:t>
            </a:r>
            <a:r>
              <a:rPr lang="fr-MA" dirty="0" err="1"/>
              <a:t>threats</a:t>
            </a:r>
            <a:r>
              <a:rPr lang="fr-MA" dirty="0"/>
              <a:t>, and </a:t>
            </a:r>
            <a:r>
              <a:rPr lang="fr-MA" dirty="0" err="1"/>
              <a:t>economic</a:t>
            </a:r>
            <a:r>
              <a:rPr lang="fr-MA" dirty="0"/>
              <a:t>, </a:t>
            </a:r>
            <a:r>
              <a:rPr lang="fr-MA" dirty="0" err="1"/>
              <a:t>technological</a:t>
            </a:r>
            <a:r>
              <a:rPr lang="fr-MA" dirty="0"/>
              <a:t> and social changes, </a:t>
            </a:r>
            <a:r>
              <a:rPr lang="fr-MA" dirty="0" err="1"/>
              <a:t>organizations</a:t>
            </a:r>
            <a:r>
              <a:rPr lang="fr-MA" dirty="0"/>
              <a:t> </a:t>
            </a:r>
            <a:r>
              <a:rPr lang="fr-MA" dirty="0" err="1"/>
              <a:t>need</a:t>
            </a:r>
            <a:r>
              <a:rPr lang="fr-MA" dirty="0"/>
              <a:t> to </a:t>
            </a:r>
            <a:r>
              <a:rPr lang="fr-MA" dirty="0" err="1"/>
              <a:t>rethink</a:t>
            </a:r>
            <a:r>
              <a:rPr lang="fr-MA" dirty="0"/>
              <a:t> </a:t>
            </a:r>
            <a:r>
              <a:rPr lang="fr-MA" dirty="0" err="1"/>
              <a:t>their</a:t>
            </a:r>
            <a:r>
              <a:rPr lang="fr-MA" dirty="0"/>
              <a:t> </a:t>
            </a:r>
            <a:r>
              <a:rPr lang="fr-MA" dirty="0" err="1"/>
              <a:t>approaches</a:t>
            </a:r>
            <a:r>
              <a:rPr lang="fr-MA" dirty="0"/>
              <a:t> to </a:t>
            </a:r>
            <a:r>
              <a:rPr lang="fr-MA" dirty="0" err="1"/>
              <a:t>governance</a:t>
            </a:r>
            <a:r>
              <a:rPr lang="fr-MA" dirty="0"/>
              <a:t> and </a:t>
            </a:r>
            <a:r>
              <a:rPr lang="fr-MA" dirty="0" err="1"/>
              <a:t>risk</a:t>
            </a:r>
            <a:r>
              <a:rPr lang="fr-MA" dirty="0"/>
              <a:t> management. In </a:t>
            </a:r>
            <a:r>
              <a:rPr lang="fr-MA" dirty="0" err="1"/>
              <a:t>this</a:t>
            </a:r>
            <a:r>
              <a:rPr lang="fr-MA" dirty="0"/>
              <a:t> </a:t>
            </a:r>
            <a:r>
              <a:rPr lang="fr-MA" dirty="0" err="1"/>
              <a:t>context</a:t>
            </a:r>
            <a:r>
              <a:rPr lang="fr-MA" dirty="0"/>
              <a:t>, </a:t>
            </a:r>
            <a:r>
              <a:rPr lang="fr-MA" dirty="0" err="1"/>
              <a:t>Internal</a:t>
            </a:r>
            <a:r>
              <a:rPr lang="fr-MA" dirty="0"/>
              <a:t> Audit </a:t>
            </a:r>
            <a:r>
              <a:rPr lang="fr-MA" dirty="0" err="1"/>
              <a:t>is</a:t>
            </a:r>
            <a:r>
              <a:rPr lang="fr-MA" dirty="0"/>
              <a:t> </a:t>
            </a:r>
            <a:r>
              <a:rPr lang="fr-MA" dirty="0" err="1"/>
              <a:t>evolving</a:t>
            </a:r>
            <a:r>
              <a:rPr lang="fr-MA" dirty="0"/>
              <a:t> to </a:t>
            </a:r>
            <a:r>
              <a:rPr lang="fr-MA" dirty="0" err="1"/>
              <a:t>provide</a:t>
            </a:r>
            <a:r>
              <a:rPr lang="fr-MA" dirty="0"/>
              <a:t> </a:t>
            </a:r>
            <a:r>
              <a:rPr lang="fr-MA" dirty="0" err="1"/>
              <a:t>forward-looking</a:t>
            </a:r>
            <a:r>
              <a:rPr lang="fr-MA" dirty="0"/>
              <a:t> insight, support transformation and </a:t>
            </a:r>
            <a:r>
              <a:rPr lang="fr-MA" dirty="0" err="1"/>
              <a:t>contribute</a:t>
            </a:r>
            <a:r>
              <a:rPr lang="fr-MA" dirty="0"/>
              <a:t> to value </a:t>
            </a:r>
            <a:r>
              <a:rPr lang="fr-MA" dirty="0" err="1"/>
              <a:t>creation</a:t>
            </a:r>
            <a:r>
              <a:rPr lang="fr-MA" dirty="0"/>
              <a:t>.</a:t>
            </a:r>
          </a:p>
          <a:p>
            <a:r>
              <a:rPr lang="fr-MA" dirty="0"/>
              <a:t>The </a:t>
            </a:r>
            <a:r>
              <a:rPr lang="fr-MA" dirty="0" err="1"/>
              <a:t>conference</a:t>
            </a:r>
            <a:r>
              <a:rPr lang="fr-MA" dirty="0"/>
              <a:t> </a:t>
            </a:r>
            <a:r>
              <a:rPr lang="fr-MA" dirty="0" err="1"/>
              <a:t>will</a:t>
            </a:r>
            <a:r>
              <a:rPr lang="fr-MA" dirty="0"/>
              <a:t> explore </a:t>
            </a:r>
            <a:r>
              <a:rPr lang="fr-MA" dirty="0" err="1"/>
              <a:t>concrete</a:t>
            </a:r>
            <a:r>
              <a:rPr lang="fr-MA" dirty="0"/>
              <a:t> </a:t>
            </a:r>
            <a:r>
              <a:rPr lang="fr-MA" dirty="0" err="1"/>
              <a:t>responses</a:t>
            </a:r>
            <a:r>
              <a:rPr lang="fr-MA" dirty="0"/>
              <a:t> to </a:t>
            </a:r>
            <a:r>
              <a:rPr lang="fr-MA" dirty="0" err="1"/>
              <a:t>these</a:t>
            </a:r>
            <a:r>
              <a:rPr lang="fr-MA" dirty="0"/>
              <a:t> new challenges and </a:t>
            </a:r>
            <a:r>
              <a:rPr lang="fr-MA" dirty="0" err="1"/>
              <a:t>demonstrate</a:t>
            </a:r>
            <a:r>
              <a:rPr lang="fr-MA" dirty="0"/>
              <a:t> how </a:t>
            </a:r>
            <a:r>
              <a:rPr lang="fr-MA" dirty="0" err="1"/>
              <a:t>Internal</a:t>
            </a:r>
            <a:r>
              <a:rPr lang="fr-MA" dirty="0"/>
              <a:t> Audit can </a:t>
            </a:r>
            <a:r>
              <a:rPr lang="fr-MA" dirty="0" err="1"/>
              <a:t>strengthen</a:t>
            </a:r>
            <a:r>
              <a:rPr lang="fr-MA" dirty="0"/>
              <a:t> trust, </a:t>
            </a:r>
            <a:r>
              <a:rPr lang="fr-MA" dirty="0" err="1"/>
              <a:t>resilience</a:t>
            </a:r>
            <a:r>
              <a:rPr lang="fr-MA" dirty="0"/>
              <a:t> and </a:t>
            </a:r>
            <a:r>
              <a:rPr lang="fr-MA" dirty="0" err="1"/>
              <a:t>organizational</a:t>
            </a:r>
            <a:r>
              <a:rPr lang="fr-MA" dirty="0"/>
              <a:t> performance </a:t>
            </a:r>
            <a:r>
              <a:rPr lang="fr-MA" dirty="0" err="1"/>
              <a:t>while</a:t>
            </a:r>
            <a:r>
              <a:rPr lang="fr-MA" dirty="0"/>
              <a:t> </a:t>
            </a:r>
            <a:r>
              <a:rPr lang="fr-MA" dirty="0" err="1"/>
              <a:t>supporting</a:t>
            </a:r>
            <a:r>
              <a:rPr lang="fr-MA" dirty="0"/>
              <a:t> transformation.</a:t>
            </a:r>
          </a:p>
          <a:p>
            <a:endParaRPr lang="fr-MA" dirty="0"/>
          </a:p>
        </p:txBody>
      </p:sp>
      <p:sp>
        <p:nvSpPr>
          <p:cNvPr id="4" name="ZoneTexte 3">
            <a:extLst>
              <a:ext uri="{FF2B5EF4-FFF2-40B4-BE49-F238E27FC236}">
                <a16:creationId xmlns:a16="http://schemas.microsoft.com/office/drawing/2014/main" id="{C5433027-8188-2C18-6056-488831DC4B6B}"/>
              </a:ext>
            </a:extLst>
          </p:cNvPr>
          <p:cNvSpPr txBox="1"/>
          <p:nvPr/>
        </p:nvSpPr>
        <p:spPr>
          <a:xfrm>
            <a:off x="655455" y="12868460"/>
            <a:ext cx="5915278" cy="4247317"/>
          </a:xfrm>
          <a:prstGeom prst="rect">
            <a:avLst/>
          </a:prstGeom>
          <a:noFill/>
        </p:spPr>
        <p:txBody>
          <a:bodyPr wrap="square" rtlCol="0">
            <a:spAutoFit/>
          </a:bodyPr>
          <a:lstStyle/>
          <a:p>
            <a:pPr algn="r"/>
            <a:r>
              <a:rPr lang="fr-MA" b="1" dirty="0" err="1"/>
              <a:t>لماذا</a:t>
            </a:r>
            <a:r>
              <a:rPr lang="fr-MA" b="1" dirty="0"/>
              <a:t> </a:t>
            </a:r>
            <a:r>
              <a:rPr lang="fr-MA" b="1" dirty="0" err="1"/>
              <a:t>هذا</a:t>
            </a:r>
            <a:r>
              <a:rPr lang="fr-MA" b="1" dirty="0"/>
              <a:t> </a:t>
            </a:r>
            <a:r>
              <a:rPr lang="fr-MA" b="1" dirty="0" err="1"/>
              <a:t>المؤتمر</a:t>
            </a:r>
            <a:r>
              <a:rPr lang="fr-MA" b="1" dirty="0"/>
              <a:t>؟</a:t>
            </a:r>
          </a:p>
          <a:p>
            <a:pPr algn="r"/>
            <a:r>
              <a:rPr lang="fr-MA" b="1" dirty="0" err="1"/>
              <a:t>لقاء</a:t>
            </a:r>
            <a:r>
              <a:rPr lang="fr-MA" b="1" dirty="0"/>
              <a:t> </a:t>
            </a:r>
            <a:r>
              <a:rPr lang="fr-MA" b="1" dirty="0" err="1"/>
              <a:t>إقليمي</a:t>
            </a:r>
            <a:r>
              <a:rPr lang="fr-MA" b="1" dirty="0"/>
              <a:t> </a:t>
            </a:r>
            <a:r>
              <a:rPr lang="fr-MA" b="1" dirty="0" err="1"/>
              <a:t>في</a:t>
            </a:r>
            <a:r>
              <a:rPr lang="fr-MA" b="1" dirty="0"/>
              <a:t> </a:t>
            </a:r>
            <a:r>
              <a:rPr lang="fr-MA" b="1" dirty="0" err="1"/>
              <a:t>صميم</a:t>
            </a:r>
            <a:r>
              <a:rPr lang="fr-MA" b="1" dirty="0"/>
              <a:t> </a:t>
            </a:r>
            <a:r>
              <a:rPr lang="fr-MA" b="1" dirty="0" err="1"/>
              <a:t>تحديات</a:t>
            </a:r>
            <a:r>
              <a:rPr lang="fr-MA" b="1" dirty="0"/>
              <a:t> </a:t>
            </a:r>
            <a:r>
              <a:rPr lang="fr-MA" b="1" dirty="0" err="1"/>
              <a:t>التدقيق</a:t>
            </a:r>
            <a:r>
              <a:rPr lang="fr-MA" b="1" dirty="0"/>
              <a:t> </a:t>
            </a:r>
            <a:r>
              <a:rPr lang="fr-MA" b="1" dirty="0" err="1"/>
              <a:t>الداخلي</a:t>
            </a:r>
            <a:endParaRPr lang="fr-MA" b="1" dirty="0"/>
          </a:p>
          <a:p>
            <a:pPr algn="r"/>
            <a:r>
              <a:rPr lang="fr-MA" dirty="0" err="1"/>
              <a:t>سيجمع</a:t>
            </a:r>
            <a:r>
              <a:rPr lang="fr-MA" dirty="0"/>
              <a:t> </a:t>
            </a:r>
            <a:r>
              <a:rPr lang="fr-MA" dirty="0" err="1"/>
              <a:t>المؤتمر</a:t>
            </a:r>
            <a:r>
              <a:rPr lang="fr-MA" dirty="0"/>
              <a:t> </a:t>
            </a:r>
            <a:r>
              <a:rPr lang="fr-MA" dirty="0" err="1"/>
              <a:t>السنوي</a:t>
            </a:r>
            <a:r>
              <a:rPr lang="fr-MA" dirty="0"/>
              <a:t> لـ ARABCIA </a:t>
            </a:r>
            <a:r>
              <a:rPr lang="fr-MA" dirty="0" err="1"/>
              <a:t>لعام</a:t>
            </a:r>
            <a:r>
              <a:rPr lang="fr-MA" dirty="0"/>
              <a:t> 2026، </a:t>
            </a:r>
            <a:r>
              <a:rPr lang="fr-MA" dirty="0" err="1"/>
              <a:t>الذي</a:t>
            </a:r>
            <a:r>
              <a:rPr lang="fr-MA" dirty="0"/>
              <a:t> </a:t>
            </a:r>
            <a:r>
              <a:rPr lang="fr-MA" dirty="0" err="1"/>
              <a:t>تنظمه</a:t>
            </a:r>
            <a:r>
              <a:rPr lang="fr-MA" dirty="0"/>
              <a:t> ARABCIA </a:t>
            </a:r>
            <a:r>
              <a:rPr lang="fr-MA" dirty="0" err="1"/>
              <a:t>وتستضيفه</a:t>
            </a:r>
            <a:r>
              <a:rPr lang="fr-MA" dirty="0"/>
              <a:t> </a:t>
            </a:r>
            <a:r>
              <a:rPr lang="fr-MA" dirty="0" err="1"/>
              <a:t>في</a:t>
            </a:r>
            <a:r>
              <a:rPr lang="fr-MA" dirty="0"/>
              <a:t> </a:t>
            </a:r>
            <a:r>
              <a:rPr lang="fr-MA" dirty="0" err="1"/>
              <a:t>المغرب</a:t>
            </a:r>
            <a:r>
              <a:rPr lang="fr-MA" dirty="0"/>
              <a:t> </a:t>
            </a:r>
            <a:r>
              <a:rPr lang="fr-MA" dirty="0" err="1"/>
              <a:t>الهيئة</a:t>
            </a:r>
            <a:r>
              <a:rPr lang="fr-MA" dirty="0"/>
              <a:t> </a:t>
            </a:r>
            <a:r>
              <a:rPr lang="fr-MA" dirty="0" err="1"/>
              <a:t>المغربية</a:t>
            </a:r>
            <a:r>
              <a:rPr lang="fr-MA" dirty="0"/>
              <a:t> </a:t>
            </a:r>
            <a:r>
              <a:rPr lang="fr-MA" dirty="0" err="1"/>
              <a:t>للمراجعين</a:t>
            </a:r>
            <a:r>
              <a:rPr lang="fr-MA" dirty="0"/>
              <a:t> </a:t>
            </a:r>
            <a:r>
              <a:rPr lang="fr-MA" dirty="0" err="1"/>
              <a:t>الداخليين</a:t>
            </a:r>
            <a:r>
              <a:rPr lang="fr-MA" dirty="0"/>
              <a:t> IIA </a:t>
            </a:r>
            <a:r>
              <a:rPr lang="fr-MA" dirty="0" err="1"/>
              <a:t>المغرب</a:t>
            </a:r>
            <a:r>
              <a:rPr lang="fr-MA" dirty="0"/>
              <a:t>، </a:t>
            </a:r>
            <a:r>
              <a:rPr lang="fr-MA" dirty="0" err="1"/>
              <a:t>في</a:t>
            </a:r>
            <a:r>
              <a:rPr lang="fr-MA" dirty="0"/>
              <a:t> </a:t>
            </a:r>
            <a:r>
              <a:rPr lang="fr-MA" dirty="0" err="1"/>
              <a:t>الرباط</a:t>
            </a:r>
            <a:r>
              <a:rPr lang="fr-MA" dirty="0"/>
              <a:t> </a:t>
            </a:r>
            <a:r>
              <a:rPr lang="fr-MA" dirty="0" err="1"/>
              <a:t>المهنيين</a:t>
            </a:r>
            <a:r>
              <a:rPr lang="fr-MA" dirty="0"/>
              <a:t> </a:t>
            </a:r>
            <a:r>
              <a:rPr lang="fr-MA" dirty="0" err="1"/>
              <a:t>والمؤسسات</a:t>
            </a:r>
            <a:r>
              <a:rPr lang="fr-MA" dirty="0"/>
              <a:t> </a:t>
            </a:r>
            <a:r>
              <a:rPr lang="fr-MA" dirty="0" err="1"/>
              <a:t>المساهمة</a:t>
            </a:r>
            <a:r>
              <a:rPr lang="fr-MA" dirty="0"/>
              <a:t> </a:t>
            </a:r>
            <a:r>
              <a:rPr lang="fr-MA" dirty="0" err="1"/>
              <a:t>في</a:t>
            </a:r>
            <a:r>
              <a:rPr lang="fr-MA" dirty="0"/>
              <a:t> </a:t>
            </a:r>
            <a:r>
              <a:rPr lang="fr-MA" dirty="0" err="1"/>
              <a:t>تطوير</a:t>
            </a:r>
            <a:r>
              <a:rPr lang="fr-MA" dirty="0"/>
              <a:t> </a:t>
            </a:r>
            <a:r>
              <a:rPr lang="fr-MA" dirty="0" err="1"/>
              <a:t>مهنة</a:t>
            </a:r>
            <a:r>
              <a:rPr lang="fr-MA" dirty="0"/>
              <a:t> </a:t>
            </a:r>
            <a:r>
              <a:rPr lang="fr-MA" dirty="0" err="1"/>
              <a:t>التدقيق</a:t>
            </a:r>
            <a:r>
              <a:rPr lang="fr-MA" dirty="0"/>
              <a:t> </a:t>
            </a:r>
            <a:r>
              <a:rPr lang="fr-MA" dirty="0" err="1"/>
              <a:t>الداخلي</a:t>
            </a:r>
            <a:r>
              <a:rPr lang="fr-MA" dirty="0"/>
              <a:t> </a:t>
            </a:r>
            <a:r>
              <a:rPr lang="fr-MA" dirty="0" err="1"/>
              <a:t>في</a:t>
            </a:r>
            <a:r>
              <a:rPr lang="fr-MA" dirty="0"/>
              <a:t> </a:t>
            </a:r>
            <a:r>
              <a:rPr lang="fr-MA" dirty="0" err="1"/>
              <a:t>العالم</a:t>
            </a:r>
            <a:r>
              <a:rPr lang="fr-MA" dirty="0"/>
              <a:t> </a:t>
            </a:r>
            <a:r>
              <a:rPr lang="fr-MA" dirty="0" err="1"/>
              <a:t>العربي</a:t>
            </a:r>
            <a:r>
              <a:rPr lang="fr-MA" dirty="0"/>
              <a:t> </a:t>
            </a:r>
            <a:r>
              <a:rPr lang="fr-MA" dirty="0" err="1"/>
              <a:t>وخارجه</a:t>
            </a:r>
            <a:r>
              <a:rPr lang="fr-MA" dirty="0"/>
              <a:t>. </a:t>
            </a:r>
            <a:r>
              <a:rPr lang="fr-MA" dirty="0" err="1"/>
              <a:t>وستتمحور</a:t>
            </a:r>
            <a:r>
              <a:rPr lang="fr-MA" dirty="0"/>
              <a:t> </a:t>
            </a:r>
            <a:r>
              <a:rPr lang="fr-MA" dirty="0" err="1"/>
              <a:t>هذه</a:t>
            </a:r>
            <a:r>
              <a:rPr lang="fr-MA" dirty="0"/>
              <a:t> </a:t>
            </a:r>
            <a:r>
              <a:rPr lang="fr-MA" dirty="0" err="1"/>
              <a:t>الدورة</a:t>
            </a:r>
            <a:r>
              <a:rPr lang="fr-MA" dirty="0"/>
              <a:t> </a:t>
            </a:r>
            <a:r>
              <a:rPr lang="fr-MA" dirty="0" err="1"/>
              <a:t>حول</a:t>
            </a:r>
            <a:r>
              <a:rPr lang="fr-MA" dirty="0"/>
              <a:t> </a:t>
            </a:r>
            <a:r>
              <a:rPr lang="fr-MA" dirty="0" err="1"/>
              <a:t>موضوع</a:t>
            </a:r>
            <a:r>
              <a:rPr lang="fr-MA" dirty="0"/>
              <a:t>: </a:t>
            </a:r>
            <a:r>
              <a:rPr lang="fr-MA" b="1" dirty="0"/>
              <a:t>«</a:t>
            </a:r>
            <a:r>
              <a:rPr lang="fr-MA" b="1" dirty="0" err="1"/>
              <a:t>التدقيق</a:t>
            </a:r>
            <a:r>
              <a:rPr lang="fr-MA" b="1" dirty="0"/>
              <a:t> </a:t>
            </a:r>
            <a:r>
              <a:rPr lang="fr-MA" b="1" dirty="0" err="1"/>
              <a:t>الداخلي</a:t>
            </a:r>
            <a:r>
              <a:rPr lang="fr-MA" b="1" dirty="0"/>
              <a:t>: </a:t>
            </a:r>
            <a:r>
              <a:rPr lang="fr-MA" b="1" dirty="0" err="1"/>
              <a:t>شريك</a:t>
            </a:r>
            <a:r>
              <a:rPr lang="fr-MA" b="1" dirty="0"/>
              <a:t> </a:t>
            </a:r>
            <a:r>
              <a:rPr lang="fr-MA" b="1" dirty="0" err="1"/>
              <a:t>موثوق</a:t>
            </a:r>
            <a:r>
              <a:rPr lang="fr-MA" b="1" dirty="0"/>
              <a:t> </a:t>
            </a:r>
            <a:r>
              <a:rPr lang="fr-MA" b="1" dirty="0" err="1"/>
              <a:t>في</a:t>
            </a:r>
            <a:r>
              <a:rPr lang="fr-MA" b="1" dirty="0"/>
              <a:t> </a:t>
            </a:r>
            <a:r>
              <a:rPr lang="fr-MA" b="1" dirty="0" err="1"/>
              <a:t>تحول</a:t>
            </a:r>
            <a:r>
              <a:rPr lang="fr-MA" b="1" dirty="0"/>
              <a:t> </a:t>
            </a:r>
            <a:r>
              <a:rPr lang="fr-MA" b="1" dirty="0" err="1"/>
              <a:t>المؤسسات</a:t>
            </a:r>
            <a:r>
              <a:rPr lang="fr-MA" b="1" dirty="0"/>
              <a:t> </a:t>
            </a:r>
            <a:r>
              <a:rPr lang="fr-MA" b="1" dirty="0" err="1"/>
              <a:t>وتعزيز</a:t>
            </a:r>
            <a:r>
              <a:rPr lang="fr-MA" b="1" dirty="0"/>
              <a:t> </a:t>
            </a:r>
            <a:r>
              <a:rPr lang="fr-MA" b="1" dirty="0" err="1"/>
              <a:t>قدرتها</a:t>
            </a:r>
            <a:r>
              <a:rPr lang="fr-MA" b="1" dirty="0"/>
              <a:t> </a:t>
            </a:r>
            <a:r>
              <a:rPr lang="fr-MA" b="1" dirty="0" err="1"/>
              <a:t>على</a:t>
            </a:r>
            <a:r>
              <a:rPr lang="fr-MA" b="1" dirty="0"/>
              <a:t> </a:t>
            </a:r>
            <a:r>
              <a:rPr lang="fr-MA" b="1" dirty="0" err="1"/>
              <a:t>الصمود</a:t>
            </a:r>
            <a:r>
              <a:rPr lang="fr-MA" b="1" dirty="0"/>
              <a:t>»</a:t>
            </a:r>
            <a:r>
              <a:rPr lang="fr-MA" dirty="0"/>
              <a:t>.</a:t>
            </a:r>
          </a:p>
          <a:p>
            <a:pPr algn="r"/>
            <a:r>
              <a:rPr lang="fr-MA" dirty="0" err="1"/>
              <a:t>في</a:t>
            </a:r>
            <a:r>
              <a:rPr lang="fr-MA" dirty="0"/>
              <a:t> </a:t>
            </a:r>
            <a:r>
              <a:rPr lang="fr-MA" dirty="0" err="1"/>
              <a:t>ظل</a:t>
            </a:r>
            <a:r>
              <a:rPr lang="fr-MA" dirty="0"/>
              <a:t> </a:t>
            </a:r>
            <a:r>
              <a:rPr lang="fr-MA" dirty="0" err="1"/>
              <a:t>تنامي</a:t>
            </a:r>
            <a:r>
              <a:rPr lang="fr-MA" dirty="0"/>
              <a:t> </a:t>
            </a:r>
            <a:r>
              <a:rPr lang="fr-MA" dirty="0" err="1"/>
              <a:t>الذكاء</a:t>
            </a:r>
            <a:r>
              <a:rPr lang="fr-MA" dirty="0"/>
              <a:t> </a:t>
            </a:r>
            <a:r>
              <a:rPr lang="fr-MA" dirty="0" err="1"/>
              <a:t>الاصطناعي</a:t>
            </a:r>
            <a:r>
              <a:rPr lang="fr-MA" dirty="0"/>
              <a:t> </a:t>
            </a:r>
            <a:r>
              <a:rPr lang="fr-MA" dirty="0" err="1"/>
              <a:t>والتهديدات</a:t>
            </a:r>
            <a:r>
              <a:rPr lang="fr-MA" dirty="0"/>
              <a:t> </a:t>
            </a:r>
            <a:r>
              <a:rPr lang="fr-MA" dirty="0" err="1"/>
              <a:t>السيبرانية</a:t>
            </a:r>
            <a:r>
              <a:rPr lang="fr-MA" dirty="0"/>
              <a:t>، </a:t>
            </a:r>
            <a:r>
              <a:rPr lang="fr-MA" dirty="0" err="1"/>
              <a:t>والتغيرات</a:t>
            </a:r>
            <a:r>
              <a:rPr lang="fr-MA" dirty="0"/>
              <a:t> </a:t>
            </a:r>
            <a:r>
              <a:rPr lang="fr-MA" dirty="0" err="1"/>
              <a:t>الاقتصادية</a:t>
            </a:r>
            <a:r>
              <a:rPr lang="fr-MA" dirty="0"/>
              <a:t> </a:t>
            </a:r>
            <a:r>
              <a:rPr lang="fr-MA" dirty="0" err="1"/>
              <a:t>والتكنولوجية</a:t>
            </a:r>
            <a:r>
              <a:rPr lang="fr-MA" dirty="0"/>
              <a:t> </a:t>
            </a:r>
            <a:r>
              <a:rPr lang="fr-MA" dirty="0" err="1"/>
              <a:t>والاجتماعية</a:t>
            </a:r>
            <a:r>
              <a:rPr lang="fr-MA" dirty="0"/>
              <a:t> </a:t>
            </a:r>
            <a:r>
              <a:rPr lang="fr-MA" dirty="0" err="1"/>
              <a:t>المتسارعة</a:t>
            </a:r>
            <a:r>
              <a:rPr lang="fr-MA" dirty="0"/>
              <a:t>، </a:t>
            </a:r>
            <a:r>
              <a:rPr lang="fr-MA" dirty="0" err="1"/>
              <a:t>أصبحت</a:t>
            </a:r>
            <a:r>
              <a:rPr lang="fr-MA" dirty="0"/>
              <a:t> </a:t>
            </a:r>
            <a:r>
              <a:rPr lang="fr-MA" dirty="0" err="1"/>
              <a:t>المؤسسات</a:t>
            </a:r>
            <a:r>
              <a:rPr lang="fr-MA" dirty="0"/>
              <a:t> </a:t>
            </a:r>
            <a:r>
              <a:rPr lang="fr-MA" dirty="0" err="1"/>
              <a:t>مطالبة</a:t>
            </a:r>
            <a:r>
              <a:rPr lang="fr-MA" dirty="0"/>
              <a:t> </a:t>
            </a:r>
            <a:r>
              <a:rPr lang="fr-MA" dirty="0" err="1"/>
              <a:t>بإعادة</a:t>
            </a:r>
            <a:r>
              <a:rPr lang="fr-MA" dirty="0"/>
              <a:t> </a:t>
            </a:r>
            <a:r>
              <a:rPr lang="fr-MA" dirty="0" err="1"/>
              <a:t>النظر</a:t>
            </a:r>
            <a:r>
              <a:rPr lang="fr-MA" dirty="0"/>
              <a:t> </a:t>
            </a:r>
            <a:r>
              <a:rPr lang="fr-MA" dirty="0" err="1"/>
              <a:t>في</a:t>
            </a:r>
            <a:r>
              <a:rPr lang="fr-MA" dirty="0"/>
              <a:t> </a:t>
            </a:r>
            <a:r>
              <a:rPr lang="fr-MA" dirty="0" err="1"/>
              <a:t>مقارباتها</a:t>
            </a:r>
            <a:r>
              <a:rPr lang="fr-MA" dirty="0"/>
              <a:t> </a:t>
            </a:r>
            <a:r>
              <a:rPr lang="fr-MA" dirty="0" err="1"/>
              <a:t>في</a:t>
            </a:r>
            <a:r>
              <a:rPr lang="fr-MA" dirty="0"/>
              <a:t> </a:t>
            </a:r>
            <a:r>
              <a:rPr lang="fr-MA" dirty="0" err="1"/>
              <a:t>مجال</a:t>
            </a:r>
            <a:r>
              <a:rPr lang="fr-MA" dirty="0"/>
              <a:t> </a:t>
            </a:r>
            <a:r>
              <a:rPr lang="fr-MA" dirty="0" err="1"/>
              <a:t>الحوكمة</a:t>
            </a:r>
            <a:r>
              <a:rPr lang="fr-MA" dirty="0"/>
              <a:t> </a:t>
            </a:r>
            <a:r>
              <a:rPr lang="fr-MA" dirty="0" err="1"/>
              <a:t>وإدارة</a:t>
            </a:r>
            <a:r>
              <a:rPr lang="fr-MA" dirty="0"/>
              <a:t> </a:t>
            </a:r>
            <a:r>
              <a:rPr lang="fr-MA" dirty="0" err="1"/>
              <a:t>المخاطر</a:t>
            </a:r>
            <a:r>
              <a:rPr lang="fr-MA" dirty="0"/>
              <a:t>. </a:t>
            </a:r>
            <a:r>
              <a:rPr lang="fr-MA" dirty="0" err="1"/>
              <a:t>وفي</a:t>
            </a:r>
            <a:r>
              <a:rPr lang="fr-MA" dirty="0"/>
              <a:t> </a:t>
            </a:r>
            <a:r>
              <a:rPr lang="fr-MA" dirty="0" err="1"/>
              <a:t>هذا</a:t>
            </a:r>
            <a:r>
              <a:rPr lang="fr-MA" dirty="0"/>
              <a:t> </a:t>
            </a:r>
            <a:r>
              <a:rPr lang="fr-MA" dirty="0" err="1"/>
              <a:t>السياق</a:t>
            </a:r>
            <a:r>
              <a:rPr lang="fr-MA" dirty="0"/>
              <a:t>، </a:t>
            </a:r>
            <a:r>
              <a:rPr lang="fr-MA" dirty="0" err="1"/>
              <a:t>يتطور</a:t>
            </a:r>
            <a:r>
              <a:rPr lang="fr-MA" dirty="0"/>
              <a:t> </a:t>
            </a:r>
            <a:r>
              <a:rPr lang="fr-MA" dirty="0" err="1"/>
              <a:t>التدقيق</a:t>
            </a:r>
            <a:r>
              <a:rPr lang="fr-MA" dirty="0"/>
              <a:t> </a:t>
            </a:r>
            <a:r>
              <a:rPr lang="fr-MA" dirty="0" err="1"/>
              <a:t>الداخلي</a:t>
            </a:r>
            <a:r>
              <a:rPr lang="fr-MA" dirty="0"/>
              <a:t> </a:t>
            </a:r>
            <a:r>
              <a:rPr lang="fr-MA" dirty="0" err="1"/>
              <a:t>ليقدم</a:t>
            </a:r>
            <a:r>
              <a:rPr lang="fr-MA" dirty="0"/>
              <a:t> </a:t>
            </a:r>
            <a:r>
              <a:rPr lang="fr-MA" dirty="0" err="1"/>
              <a:t>رؤية</a:t>
            </a:r>
            <a:r>
              <a:rPr lang="fr-MA" dirty="0"/>
              <a:t> </a:t>
            </a:r>
            <a:r>
              <a:rPr lang="fr-MA" dirty="0" err="1"/>
              <a:t>استشرافية</a:t>
            </a:r>
            <a:r>
              <a:rPr lang="fr-MA" dirty="0"/>
              <a:t>، </a:t>
            </a:r>
            <a:r>
              <a:rPr lang="fr-MA" dirty="0" err="1"/>
              <a:t>ويدعم</a:t>
            </a:r>
            <a:r>
              <a:rPr lang="fr-MA" dirty="0"/>
              <a:t> </a:t>
            </a:r>
            <a:r>
              <a:rPr lang="fr-MA" dirty="0" err="1"/>
              <a:t>عمليات</a:t>
            </a:r>
            <a:r>
              <a:rPr lang="fr-MA" dirty="0"/>
              <a:t> </a:t>
            </a:r>
            <a:r>
              <a:rPr lang="fr-MA" dirty="0" err="1"/>
              <a:t>التحول</a:t>
            </a:r>
            <a:r>
              <a:rPr lang="fr-MA" dirty="0"/>
              <a:t>، </a:t>
            </a:r>
            <a:r>
              <a:rPr lang="fr-MA" dirty="0" err="1"/>
              <a:t>ويساهم</a:t>
            </a:r>
            <a:r>
              <a:rPr lang="fr-MA" dirty="0"/>
              <a:t> </a:t>
            </a:r>
            <a:r>
              <a:rPr lang="fr-MA" dirty="0" err="1"/>
              <a:t>في</a:t>
            </a:r>
            <a:r>
              <a:rPr lang="fr-MA" dirty="0"/>
              <a:t> </a:t>
            </a:r>
            <a:r>
              <a:rPr lang="fr-MA" dirty="0" err="1"/>
              <a:t>خلق</a:t>
            </a:r>
            <a:r>
              <a:rPr lang="fr-MA" dirty="0"/>
              <a:t> </a:t>
            </a:r>
            <a:r>
              <a:rPr lang="fr-MA" dirty="0" err="1"/>
              <a:t>القيمة</a:t>
            </a:r>
            <a:r>
              <a:rPr lang="fr-MA" dirty="0"/>
              <a:t>.</a:t>
            </a:r>
          </a:p>
          <a:p>
            <a:pPr algn="r"/>
            <a:r>
              <a:rPr lang="fr-MA" dirty="0" err="1"/>
              <a:t>وسيناقش</a:t>
            </a:r>
            <a:r>
              <a:rPr lang="fr-MA" dirty="0"/>
              <a:t> </a:t>
            </a:r>
            <a:r>
              <a:rPr lang="fr-MA" dirty="0" err="1"/>
              <a:t>المؤتمر</a:t>
            </a:r>
            <a:r>
              <a:rPr lang="fr-MA" dirty="0"/>
              <a:t> </a:t>
            </a:r>
            <a:r>
              <a:rPr lang="fr-MA" dirty="0" err="1"/>
              <a:t>استجابات</a:t>
            </a:r>
            <a:r>
              <a:rPr lang="fr-MA" dirty="0"/>
              <a:t> </a:t>
            </a:r>
            <a:r>
              <a:rPr lang="fr-MA" dirty="0" err="1"/>
              <a:t>عملية</a:t>
            </a:r>
            <a:r>
              <a:rPr lang="fr-MA" dirty="0"/>
              <a:t> </a:t>
            </a:r>
            <a:r>
              <a:rPr lang="fr-MA" dirty="0" err="1"/>
              <a:t>لهذه</a:t>
            </a:r>
            <a:r>
              <a:rPr lang="fr-MA" dirty="0"/>
              <a:t> </a:t>
            </a:r>
            <a:r>
              <a:rPr lang="fr-MA" dirty="0" err="1"/>
              <a:t>التحديات</a:t>
            </a:r>
            <a:r>
              <a:rPr lang="fr-MA" dirty="0"/>
              <a:t> </a:t>
            </a:r>
            <a:r>
              <a:rPr lang="fr-MA" dirty="0" err="1"/>
              <a:t>الجديدة</a:t>
            </a:r>
            <a:r>
              <a:rPr lang="fr-MA" dirty="0"/>
              <a:t>، </a:t>
            </a:r>
            <a:r>
              <a:rPr lang="fr-MA" dirty="0" err="1"/>
              <a:t>ويبرز</a:t>
            </a:r>
            <a:r>
              <a:rPr lang="fr-MA" dirty="0"/>
              <a:t> </a:t>
            </a:r>
            <a:r>
              <a:rPr lang="fr-MA" dirty="0" err="1"/>
              <a:t>كيف</a:t>
            </a:r>
            <a:r>
              <a:rPr lang="fr-MA" dirty="0"/>
              <a:t> </a:t>
            </a:r>
            <a:r>
              <a:rPr lang="fr-MA" dirty="0" err="1"/>
              <a:t>يمكن</a:t>
            </a:r>
            <a:r>
              <a:rPr lang="fr-MA" dirty="0"/>
              <a:t> </a:t>
            </a:r>
            <a:r>
              <a:rPr lang="fr-MA" dirty="0" err="1"/>
              <a:t>للتدقيق</a:t>
            </a:r>
            <a:r>
              <a:rPr lang="fr-MA" dirty="0"/>
              <a:t> </a:t>
            </a:r>
            <a:r>
              <a:rPr lang="fr-MA" dirty="0" err="1"/>
              <a:t>الداخلي</a:t>
            </a:r>
            <a:r>
              <a:rPr lang="fr-MA" dirty="0"/>
              <a:t> </a:t>
            </a:r>
            <a:r>
              <a:rPr lang="fr-MA" dirty="0" err="1"/>
              <a:t>أن</a:t>
            </a:r>
            <a:r>
              <a:rPr lang="fr-MA" dirty="0"/>
              <a:t> </a:t>
            </a:r>
            <a:r>
              <a:rPr lang="fr-MA" dirty="0" err="1"/>
              <a:t>يعزز</a:t>
            </a:r>
            <a:r>
              <a:rPr lang="fr-MA" dirty="0"/>
              <a:t> </a:t>
            </a:r>
            <a:r>
              <a:rPr lang="fr-MA" dirty="0" err="1"/>
              <a:t>الثقة</a:t>
            </a:r>
            <a:r>
              <a:rPr lang="fr-MA" dirty="0"/>
              <a:t> </a:t>
            </a:r>
            <a:r>
              <a:rPr lang="fr-MA" dirty="0" err="1"/>
              <a:t>والقدرة</a:t>
            </a:r>
            <a:r>
              <a:rPr lang="fr-MA" dirty="0"/>
              <a:t> </a:t>
            </a:r>
            <a:r>
              <a:rPr lang="fr-MA" dirty="0" err="1"/>
              <a:t>على</a:t>
            </a:r>
            <a:r>
              <a:rPr lang="fr-MA" dirty="0"/>
              <a:t> </a:t>
            </a:r>
            <a:r>
              <a:rPr lang="fr-MA" dirty="0" err="1"/>
              <a:t>الصمود</a:t>
            </a:r>
            <a:r>
              <a:rPr lang="fr-MA" dirty="0"/>
              <a:t> </a:t>
            </a:r>
            <a:r>
              <a:rPr lang="fr-MA" dirty="0" err="1"/>
              <a:t>والأداء</a:t>
            </a:r>
            <a:r>
              <a:rPr lang="fr-MA" dirty="0"/>
              <a:t> </a:t>
            </a:r>
            <a:r>
              <a:rPr lang="fr-MA" dirty="0" err="1"/>
              <a:t>المؤسسي</a:t>
            </a:r>
            <a:r>
              <a:rPr lang="fr-MA" dirty="0"/>
              <a:t>، </a:t>
            </a:r>
            <a:r>
              <a:rPr lang="fr-MA" dirty="0" err="1"/>
              <a:t>مع</a:t>
            </a:r>
            <a:r>
              <a:rPr lang="fr-MA" dirty="0"/>
              <a:t> </a:t>
            </a:r>
            <a:r>
              <a:rPr lang="fr-MA" dirty="0" err="1"/>
              <a:t>مواكبة</a:t>
            </a:r>
            <a:r>
              <a:rPr lang="fr-MA" dirty="0"/>
              <a:t> </a:t>
            </a:r>
            <a:r>
              <a:rPr lang="fr-MA" dirty="0" err="1"/>
              <a:t>مسارات</a:t>
            </a:r>
            <a:r>
              <a:rPr lang="fr-MA" dirty="0"/>
              <a:t> </a:t>
            </a:r>
            <a:r>
              <a:rPr lang="fr-MA" dirty="0" err="1"/>
              <a:t>التحول</a:t>
            </a:r>
            <a:r>
              <a:rPr lang="fr-MA" dirty="0"/>
              <a:t>.</a:t>
            </a:r>
          </a:p>
          <a:p>
            <a:endParaRPr lang="fr-MA" dirty="0"/>
          </a:p>
        </p:txBody>
      </p:sp>
    </p:spTree>
    <p:extLst>
      <p:ext uri="{BB962C8B-B14F-4D97-AF65-F5344CB8AC3E}">
        <p14:creationId xmlns:p14="http://schemas.microsoft.com/office/powerpoint/2010/main" val="361243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8B1BA-0313-1B62-1E1A-37B40E850AE9}"/>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533F8EB4-B84B-5144-EAC5-B926F7B410B6}"/>
              </a:ext>
            </a:extLst>
          </p:cNvPr>
          <p:cNvSpPr txBox="1"/>
          <p:nvPr/>
        </p:nvSpPr>
        <p:spPr>
          <a:xfrm>
            <a:off x="352281" y="588821"/>
            <a:ext cx="6954982" cy="9541073"/>
          </a:xfrm>
          <a:prstGeom prst="rect">
            <a:avLst/>
          </a:prstGeom>
          <a:noFill/>
        </p:spPr>
        <p:txBody>
          <a:bodyPr wrap="square" rtlCol="0">
            <a:spAutoFit/>
          </a:bodyPr>
          <a:lstStyle/>
          <a:p>
            <a:r>
              <a:rPr lang="fr-MA" sz="1400" dirty="0"/>
              <a:t>Jour 1 — Mercredi 16 décembre 2026</a:t>
            </a:r>
          </a:p>
          <a:p>
            <a:endParaRPr lang="fr-MA" sz="1400" dirty="0"/>
          </a:p>
          <a:p>
            <a:r>
              <a:rPr lang="fr-MA" sz="1400" dirty="0"/>
              <a:t>08:00 – 09:00</a:t>
            </a:r>
          </a:p>
          <a:p>
            <a:r>
              <a:rPr lang="fr-MA" sz="1400" dirty="0"/>
              <a:t>Accueil, inscription et networking</a:t>
            </a:r>
          </a:p>
          <a:p>
            <a:endParaRPr lang="fr-MA" sz="1400" dirty="0"/>
          </a:p>
          <a:p>
            <a:r>
              <a:rPr lang="fr-MA" sz="1400" dirty="0"/>
              <a:t>09:30 – 10:00</a:t>
            </a:r>
          </a:p>
          <a:p>
            <a:r>
              <a:rPr lang="fr-MA" sz="1400" dirty="0"/>
              <a:t>Cérémonie d’ouverture officielle par l’IIA Maroc, l’ARABCIA et The IIA</a:t>
            </a:r>
          </a:p>
          <a:p>
            <a:endParaRPr lang="fr-MA" sz="1400" dirty="0"/>
          </a:p>
          <a:p>
            <a:r>
              <a:rPr lang="fr-MA" sz="1400" dirty="0"/>
              <a:t>10:00 – 10:30</a:t>
            </a:r>
          </a:p>
          <a:p>
            <a:r>
              <a:rPr lang="fr-MA" sz="1400" dirty="0"/>
              <a:t>Remise des trophées de certification</a:t>
            </a:r>
          </a:p>
          <a:p>
            <a:endParaRPr lang="fr-MA" sz="1400" dirty="0"/>
          </a:p>
          <a:p>
            <a:r>
              <a:rPr lang="fr-MA" sz="1400" dirty="0"/>
              <a:t>10:30 – 11:15</a:t>
            </a:r>
          </a:p>
          <a:p>
            <a:r>
              <a:rPr lang="fr-MA" sz="1400" dirty="0"/>
              <a:t>Plénière 1</a:t>
            </a:r>
          </a:p>
          <a:p>
            <a:r>
              <a:rPr lang="fr-MA" sz="1400" dirty="0"/>
              <a:t>Empreinte : bâtir la confiance à l’ère de l’accélération de l’IA</a:t>
            </a:r>
          </a:p>
          <a:p>
            <a:endParaRPr lang="fr-MA" sz="1400" dirty="0"/>
          </a:p>
          <a:p>
            <a:r>
              <a:rPr lang="fr-MA" sz="1400" dirty="0"/>
              <a:t>11h15-11h45  : Pause-café</a:t>
            </a:r>
          </a:p>
          <a:p>
            <a:endParaRPr lang="fr-MA" sz="1400" dirty="0"/>
          </a:p>
          <a:p>
            <a:r>
              <a:rPr lang="fr-MA" sz="1400" dirty="0"/>
              <a:t>11:45 – 12:30</a:t>
            </a:r>
          </a:p>
          <a:p>
            <a:r>
              <a:rPr lang="fr-MA" sz="1400" dirty="0"/>
              <a:t>Plénière 2</a:t>
            </a:r>
          </a:p>
          <a:p>
            <a:r>
              <a:rPr lang="fr-MA" sz="1400" dirty="0"/>
              <a:t>Diriger dans l’incertitude d’un monde fragmenté : nouveau paysage mondial et régional des risques</a:t>
            </a:r>
          </a:p>
          <a:p>
            <a:endParaRPr lang="fr-MA" sz="1400" dirty="0"/>
          </a:p>
          <a:p>
            <a:r>
              <a:rPr lang="fr-MA" sz="1400" dirty="0"/>
              <a:t>12:30 – 13:30</a:t>
            </a:r>
          </a:p>
          <a:p>
            <a:r>
              <a:rPr lang="fr-MA" sz="1400" dirty="0"/>
              <a:t>Plénière 3 — Panel</a:t>
            </a:r>
          </a:p>
          <a:p>
            <a:r>
              <a:rPr lang="fr-MA" sz="1400" dirty="0"/>
              <a:t>Ce que les conseils attendent de l’Audit Interne en période de disruption continue</a:t>
            </a:r>
          </a:p>
          <a:p>
            <a:endParaRPr lang="fr-MA" sz="1400" dirty="0"/>
          </a:p>
          <a:p>
            <a:r>
              <a:rPr lang="fr-MA" sz="1400" dirty="0"/>
              <a:t>13h30-14h30 Déjeuner</a:t>
            </a:r>
          </a:p>
          <a:p>
            <a:endParaRPr lang="fr-MA" sz="1400" dirty="0"/>
          </a:p>
          <a:p>
            <a:r>
              <a:rPr lang="fr-MA" sz="1400" dirty="0"/>
              <a:t>14:30 – 16:20</a:t>
            </a:r>
          </a:p>
          <a:p>
            <a:r>
              <a:rPr lang="fr-MA" sz="1400" dirty="0"/>
              <a:t>Ateliers — Trois parcours</a:t>
            </a:r>
          </a:p>
          <a:p>
            <a:r>
              <a:rPr lang="fr-MA" sz="1400" dirty="0"/>
              <a:t>Atelier 1 : IA et transformation</a:t>
            </a:r>
            <a:br>
              <a:rPr lang="fr-MA" sz="1400" dirty="0"/>
            </a:br>
            <a:r>
              <a:rPr lang="fr-MA" sz="1400" dirty="0"/>
              <a:t>Enjeux de l’intelligence artificielle et de la transformation.</a:t>
            </a:r>
          </a:p>
          <a:p>
            <a:r>
              <a:rPr lang="fr-MA" sz="1400" dirty="0"/>
              <a:t>Atelier 2 : Résilience</a:t>
            </a:r>
            <a:br>
              <a:rPr lang="fr-MA" sz="1400" dirty="0"/>
            </a:br>
            <a:r>
              <a:rPr lang="fr-MA" sz="1400" dirty="0"/>
              <a:t>La résilience des organisations et à la maîtrise des risques.</a:t>
            </a:r>
          </a:p>
          <a:p>
            <a:r>
              <a:rPr lang="fr-MA" sz="1400" dirty="0"/>
              <a:t>Atelier 3 : Auditeur de demain</a:t>
            </a:r>
            <a:br>
              <a:rPr lang="fr-MA" sz="1400" dirty="0"/>
            </a:br>
            <a:r>
              <a:rPr lang="fr-MA" sz="1400" dirty="0"/>
              <a:t>Evolution du métier et aux compétences de l’auditeur interne.</a:t>
            </a:r>
          </a:p>
          <a:p>
            <a:endParaRPr lang="fr-MA" sz="1400" dirty="0"/>
          </a:p>
          <a:p>
            <a:r>
              <a:rPr lang="fr-MA" sz="1400" dirty="0"/>
              <a:t>1620-1650  : Pause-café</a:t>
            </a:r>
          </a:p>
          <a:p>
            <a:endParaRPr lang="fr-MA" sz="1400" dirty="0"/>
          </a:p>
          <a:p>
            <a:endParaRPr lang="fr-MA" sz="1400" dirty="0"/>
          </a:p>
          <a:p>
            <a:r>
              <a:rPr lang="fr-MA" sz="1400" dirty="0"/>
              <a:t>16:50 – 17:35</a:t>
            </a:r>
          </a:p>
          <a:p>
            <a:r>
              <a:rPr lang="fr-MA" sz="1400" dirty="0"/>
              <a:t>Innovation </a:t>
            </a:r>
            <a:r>
              <a:rPr lang="fr-MA" sz="1400" dirty="0" err="1"/>
              <a:t>Lab</a:t>
            </a:r>
            <a:r>
              <a:rPr lang="fr-MA" sz="1400" dirty="0"/>
              <a:t> : </a:t>
            </a:r>
            <a:r>
              <a:rPr lang="fr-MA" sz="1400" dirty="0" err="1"/>
              <a:t>Continuous</a:t>
            </a:r>
            <a:r>
              <a:rPr lang="fr-MA" sz="1400" dirty="0"/>
              <a:t> Monitoring / AI </a:t>
            </a:r>
            <a:r>
              <a:rPr lang="fr-MA" sz="1400" dirty="0" err="1"/>
              <a:t>Copilots</a:t>
            </a:r>
            <a:r>
              <a:rPr lang="fr-MA" sz="1400" dirty="0"/>
              <a:t> pour Audit Interne / GRC platforms</a:t>
            </a:r>
          </a:p>
          <a:p>
            <a:br>
              <a:rPr lang="fr-MA" sz="1400" dirty="0"/>
            </a:br>
            <a:endParaRPr lang="fr-MA" sz="1400" dirty="0"/>
          </a:p>
        </p:txBody>
      </p:sp>
    </p:spTree>
    <p:extLst>
      <p:ext uri="{BB962C8B-B14F-4D97-AF65-F5344CB8AC3E}">
        <p14:creationId xmlns:p14="http://schemas.microsoft.com/office/powerpoint/2010/main" val="266043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35952AA1-4C26-A700-A6E6-0E658A5A3CD6}"/>
              </a:ext>
            </a:extLst>
          </p:cNvPr>
          <p:cNvSpPr txBox="1"/>
          <p:nvPr/>
        </p:nvSpPr>
        <p:spPr>
          <a:xfrm>
            <a:off x="457200" y="808892"/>
            <a:ext cx="6119446" cy="8402300"/>
          </a:xfrm>
          <a:prstGeom prst="rect">
            <a:avLst/>
          </a:prstGeom>
          <a:noFill/>
        </p:spPr>
        <p:txBody>
          <a:bodyPr wrap="square" rtlCol="0">
            <a:spAutoFit/>
          </a:bodyPr>
          <a:lstStyle/>
          <a:p>
            <a:endParaRPr lang="fr-MA" sz="1200" dirty="0"/>
          </a:p>
          <a:p>
            <a:r>
              <a:rPr lang="fr-MA" sz="1200" dirty="0"/>
              <a:t>Jour 2 — Jeudi 17 décembre 2026</a:t>
            </a:r>
          </a:p>
          <a:p>
            <a:endParaRPr lang="fr-MA" sz="1200" dirty="0"/>
          </a:p>
          <a:p>
            <a:r>
              <a:rPr lang="fr-MA" sz="1200" dirty="0"/>
              <a:t>08:00 – 09:00</a:t>
            </a:r>
          </a:p>
          <a:p>
            <a:r>
              <a:rPr lang="fr-MA" sz="1200" dirty="0"/>
              <a:t>Accueil et networking</a:t>
            </a:r>
          </a:p>
          <a:p>
            <a:endParaRPr lang="fr-MA" sz="1200" dirty="0"/>
          </a:p>
          <a:p>
            <a:r>
              <a:rPr lang="fr-MA" sz="1200" dirty="0"/>
              <a:t>09:00 – 10:00</a:t>
            </a:r>
          </a:p>
          <a:p>
            <a:r>
              <a:rPr lang="fr-MA" sz="1200" dirty="0"/>
              <a:t>Plénière 4</a:t>
            </a:r>
          </a:p>
          <a:p>
            <a:r>
              <a:rPr lang="fr-MA" sz="1200" dirty="0"/>
              <a:t>L’avantage humain à l’ère de l’IA : l’auditeur résilient et ce que la technologie ne remplacera jamais</a:t>
            </a:r>
          </a:p>
          <a:p>
            <a:endParaRPr lang="fr-MA" sz="1200" dirty="0"/>
          </a:p>
          <a:p>
            <a:r>
              <a:rPr lang="fr-MA" sz="1200" dirty="0"/>
              <a:t>10:00 – 11:00</a:t>
            </a:r>
          </a:p>
          <a:p>
            <a:r>
              <a:rPr lang="fr-MA" sz="1200" dirty="0"/>
              <a:t>Plénière 5 — Panel</a:t>
            </a:r>
          </a:p>
          <a:p>
            <a:r>
              <a:rPr lang="fr-MA" sz="1200" dirty="0"/>
              <a:t>Les femmes à la tête de la transformation de l’Audit Interne</a:t>
            </a:r>
          </a:p>
          <a:p>
            <a:endParaRPr lang="fr-MA" sz="1200" dirty="0"/>
          </a:p>
          <a:p>
            <a:r>
              <a:rPr lang="fr-MA" sz="1200" dirty="0"/>
              <a:t>1100-11h30  : Pause-café</a:t>
            </a:r>
          </a:p>
          <a:p>
            <a:endParaRPr lang="fr-MA" sz="1200" dirty="0"/>
          </a:p>
          <a:p>
            <a:r>
              <a:rPr lang="fr-MA" sz="1200" dirty="0"/>
              <a:t>11:30 – 12:30</a:t>
            </a:r>
          </a:p>
          <a:p>
            <a:r>
              <a:rPr lang="fr-MA" sz="1200" dirty="0"/>
              <a:t>Plénière 6</a:t>
            </a:r>
          </a:p>
          <a:p>
            <a:r>
              <a:rPr lang="fr-MA" sz="1200" dirty="0"/>
              <a:t>De la coordination des Trois Lignes à l’assurance intégrée : construire une cartographie d’assurance au service de la résilience</a:t>
            </a:r>
          </a:p>
          <a:p>
            <a:endParaRPr lang="fr-MA" sz="1200" dirty="0"/>
          </a:p>
          <a:p>
            <a:r>
              <a:rPr lang="fr-MA" sz="1200" dirty="0"/>
              <a:t>13h30-14h30 Déjeuner</a:t>
            </a:r>
          </a:p>
          <a:p>
            <a:endParaRPr lang="fr-MA" sz="1200" dirty="0"/>
          </a:p>
          <a:p>
            <a:r>
              <a:rPr lang="fr-MA" sz="1200" dirty="0"/>
              <a:t>12:30 – 13:30</a:t>
            </a:r>
          </a:p>
          <a:p>
            <a:r>
              <a:rPr lang="fr-MA" sz="1200" dirty="0"/>
              <a:t>Plénière 7 — Panel</a:t>
            </a:r>
          </a:p>
          <a:p>
            <a:r>
              <a:rPr lang="fr-MA" sz="1200" dirty="0"/>
              <a:t>Au-delà de l’assurance : comment l’Audit Interne crée de la valeur stratégique dans un monde en transformation</a:t>
            </a:r>
          </a:p>
          <a:p>
            <a:endParaRPr lang="fr-MA" sz="1200" dirty="0"/>
          </a:p>
          <a:p>
            <a:r>
              <a:rPr lang="fr-MA" sz="1200" dirty="0"/>
              <a:t>14:30 – 16:20</a:t>
            </a:r>
          </a:p>
          <a:p>
            <a:r>
              <a:rPr lang="fr-MA" sz="1200" dirty="0"/>
              <a:t>Ateliers — Trois parcours</a:t>
            </a:r>
          </a:p>
          <a:p>
            <a:r>
              <a:rPr lang="fr-MA" sz="1200" dirty="0"/>
              <a:t>Atelier 1 : IA et transformation</a:t>
            </a:r>
            <a:br>
              <a:rPr lang="fr-MA" sz="1200" dirty="0"/>
            </a:br>
            <a:r>
              <a:rPr lang="fr-MA" sz="1200" dirty="0"/>
              <a:t>Ateliers consacrés aux enjeux de l’intelligence artificielle et de la transformation.</a:t>
            </a:r>
          </a:p>
          <a:p>
            <a:r>
              <a:rPr lang="fr-MA" sz="1200" dirty="0"/>
              <a:t>Atelier 2 Résilience</a:t>
            </a:r>
            <a:br>
              <a:rPr lang="fr-MA" sz="1200" dirty="0"/>
            </a:br>
            <a:r>
              <a:rPr lang="fr-MA" sz="1200" dirty="0"/>
              <a:t>Ateliers consacrés à la résilience des organisations et à la maîtrise des risques.</a:t>
            </a:r>
          </a:p>
          <a:p>
            <a:r>
              <a:rPr lang="fr-MA" sz="1200" dirty="0"/>
              <a:t>Atelier 3 : Auditeur de demain</a:t>
            </a:r>
            <a:br>
              <a:rPr lang="fr-MA" sz="1200" dirty="0"/>
            </a:br>
            <a:r>
              <a:rPr lang="fr-MA" sz="1200" dirty="0"/>
              <a:t>Ateliers consacrés à l’évolution du métier et aux compétences de l’auditeur interne.</a:t>
            </a:r>
          </a:p>
          <a:p>
            <a:endParaRPr lang="fr-MA" sz="1200" dirty="0"/>
          </a:p>
          <a:p>
            <a:r>
              <a:rPr lang="fr-MA" sz="1200" dirty="0"/>
              <a:t>1620-1650  : Pause-café</a:t>
            </a:r>
          </a:p>
          <a:p>
            <a:endParaRPr lang="fr-MA" sz="1200" dirty="0"/>
          </a:p>
          <a:p>
            <a:endParaRPr lang="fr-MA" sz="1200" dirty="0"/>
          </a:p>
          <a:p>
            <a:r>
              <a:rPr lang="fr-MA" sz="1200" dirty="0"/>
              <a:t>16:50 – 17:35</a:t>
            </a:r>
          </a:p>
          <a:p>
            <a:r>
              <a:rPr lang="fr-MA" sz="1200" dirty="0"/>
              <a:t>Innovation </a:t>
            </a:r>
            <a:r>
              <a:rPr lang="fr-MA" sz="1200" dirty="0" err="1"/>
              <a:t>Lab</a:t>
            </a:r>
            <a:r>
              <a:rPr lang="fr-MA" sz="1200" dirty="0"/>
              <a:t> : Monitoring / SAP / Process Mining / Détection de la fraude et analyse prédictive</a:t>
            </a:r>
          </a:p>
          <a:p>
            <a:endParaRPr lang="fr-MA" sz="1200" dirty="0"/>
          </a:p>
        </p:txBody>
      </p:sp>
    </p:spTree>
    <p:extLst>
      <p:ext uri="{BB962C8B-B14F-4D97-AF65-F5344CB8AC3E}">
        <p14:creationId xmlns:p14="http://schemas.microsoft.com/office/powerpoint/2010/main" val="969307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1E026-6944-5FBB-E4E9-FD9040A54B13}"/>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81C00CB-058A-E067-A2DE-CEA8D7FE5ED7}"/>
              </a:ext>
            </a:extLst>
          </p:cNvPr>
          <p:cNvSpPr txBox="1"/>
          <p:nvPr/>
        </p:nvSpPr>
        <p:spPr>
          <a:xfrm>
            <a:off x="457200" y="808892"/>
            <a:ext cx="6119446" cy="7755969"/>
          </a:xfrm>
          <a:prstGeom prst="rect">
            <a:avLst/>
          </a:prstGeom>
          <a:noFill/>
        </p:spPr>
        <p:txBody>
          <a:bodyPr wrap="square" rtlCol="0">
            <a:spAutoFit/>
          </a:bodyPr>
          <a:lstStyle/>
          <a:p>
            <a:endParaRPr lang="fr-MA" sz="1200" dirty="0"/>
          </a:p>
          <a:p>
            <a:r>
              <a:rPr lang="fr-MA" sz="1200" dirty="0"/>
              <a:t>Jour 2 — Jeudi 17 décembre 2026</a:t>
            </a:r>
          </a:p>
          <a:p>
            <a:endParaRPr lang="fr-MA" sz="1200" dirty="0"/>
          </a:p>
          <a:p>
            <a:r>
              <a:rPr lang="fr-MA" sz="1200" dirty="0"/>
              <a:t>08:00 – 09:00</a:t>
            </a:r>
          </a:p>
          <a:p>
            <a:r>
              <a:rPr lang="fr-MA" sz="1200" dirty="0"/>
              <a:t>Accueil et networking</a:t>
            </a:r>
          </a:p>
          <a:p>
            <a:endParaRPr lang="fr-MA" sz="1200" dirty="0"/>
          </a:p>
          <a:p>
            <a:r>
              <a:rPr lang="fr-MA" sz="1200" dirty="0"/>
              <a:t>09:00 – 10:00</a:t>
            </a:r>
          </a:p>
          <a:p>
            <a:r>
              <a:rPr lang="fr-MA" sz="1200" dirty="0"/>
              <a:t>Plénière 4</a:t>
            </a:r>
          </a:p>
          <a:p>
            <a:r>
              <a:rPr lang="fr-MA" sz="1200" dirty="0"/>
              <a:t>L’avantage humain à l’ère de l’IA : l’auditeur résilient et ce que la technologie ne remplacera jamais</a:t>
            </a:r>
          </a:p>
          <a:p>
            <a:r>
              <a:rPr lang="fr-MA" sz="1000" dirty="0"/>
              <a:t>Jugement professionnel - esprit critique – éthique - discernement et capacité à créer la confiance</a:t>
            </a:r>
          </a:p>
          <a:p>
            <a:endParaRPr lang="fr-MA" sz="1200" dirty="0"/>
          </a:p>
          <a:p>
            <a:r>
              <a:rPr lang="fr-MA" sz="1200" dirty="0"/>
              <a:t>10:00 – 11:00</a:t>
            </a:r>
          </a:p>
          <a:p>
            <a:r>
              <a:rPr lang="fr-MA" sz="1200" dirty="0"/>
              <a:t>Plénière 5 — Panel</a:t>
            </a:r>
          </a:p>
          <a:p>
            <a:r>
              <a:rPr lang="fr-MA" sz="1200" dirty="0"/>
              <a:t>Les femmes à la tête de la transformation de l’Audit Interne</a:t>
            </a:r>
          </a:p>
          <a:p>
            <a:r>
              <a:rPr lang="fr-MA" sz="1000" dirty="0"/>
              <a:t>Le leadership féminin et les expériences de transformation de la profession</a:t>
            </a:r>
          </a:p>
          <a:p>
            <a:endParaRPr lang="fr-MA" sz="1200" dirty="0"/>
          </a:p>
          <a:p>
            <a:r>
              <a:rPr lang="fr-MA" sz="1200" dirty="0"/>
              <a:t>11:30 – 12:30</a:t>
            </a:r>
          </a:p>
          <a:p>
            <a:r>
              <a:rPr lang="fr-MA" sz="1200" dirty="0"/>
              <a:t>Plénière 6</a:t>
            </a:r>
          </a:p>
          <a:p>
            <a:r>
              <a:rPr lang="fr-MA" sz="1200" dirty="0"/>
              <a:t>De la coordination des Trois Lignes à l’assurance intégrée : construire une cartographie d’assurance au service de la résilience</a:t>
            </a:r>
          </a:p>
          <a:p>
            <a:r>
              <a:rPr lang="fr-MA" sz="1000" dirty="0"/>
              <a:t>Les principes d’une vision cohérente, complète et dynamique des risques et des contrôles.</a:t>
            </a:r>
          </a:p>
          <a:p>
            <a:endParaRPr lang="fr-MA" sz="1200" dirty="0"/>
          </a:p>
          <a:p>
            <a:r>
              <a:rPr lang="fr-MA" sz="1200" dirty="0"/>
              <a:t>12:30 – 13:30</a:t>
            </a:r>
          </a:p>
          <a:p>
            <a:r>
              <a:rPr lang="fr-MA" sz="1200" dirty="0"/>
              <a:t>Plénière 7 — Panel</a:t>
            </a:r>
          </a:p>
          <a:p>
            <a:r>
              <a:rPr lang="fr-MA" sz="1200" dirty="0"/>
              <a:t>Au-delà de l’assurance : comment l’Audit Interne crée de la valeur stratégique dans un monde en transformation</a:t>
            </a:r>
          </a:p>
          <a:p>
            <a:r>
              <a:rPr lang="fr-MA" sz="1000" dirty="0"/>
              <a:t>Performance, transformation, intérêt général et création de valeur durable.</a:t>
            </a:r>
          </a:p>
          <a:p>
            <a:endParaRPr lang="fr-MA" sz="1200" dirty="0"/>
          </a:p>
          <a:p>
            <a:r>
              <a:rPr lang="fr-MA" sz="1200" dirty="0"/>
              <a:t>14:30 – 16:20</a:t>
            </a:r>
          </a:p>
          <a:p>
            <a:r>
              <a:rPr lang="fr-MA" sz="1200" dirty="0"/>
              <a:t>Ateliers — Trois parcours</a:t>
            </a:r>
          </a:p>
          <a:p>
            <a:r>
              <a:rPr lang="fr-MA" sz="1200" dirty="0"/>
              <a:t>Atelier 1 : IA et transformation</a:t>
            </a:r>
            <a:br>
              <a:rPr lang="fr-MA" sz="1200" dirty="0"/>
            </a:br>
            <a:r>
              <a:rPr lang="fr-MA" sz="1200" dirty="0"/>
              <a:t>Ateliers consacrés aux enjeux de l’intelligence artificielle et de la transformation.</a:t>
            </a:r>
          </a:p>
          <a:p>
            <a:r>
              <a:rPr lang="fr-MA" sz="1200" dirty="0"/>
              <a:t>Atelier 2 Résilience</a:t>
            </a:r>
            <a:br>
              <a:rPr lang="fr-MA" sz="1200" dirty="0"/>
            </a:br>
            <a:r>
              <a:rPr lang="fr-MA" sz="1200" dirty="0"/>
              <a:t>Ateliers consacrés à la résilience des organisations et à la maîtrise des risques.</a:t>
            </a:r>
          </a:p>
          <a:p>
            <a:r>
              <a:rPr lang="fr-MA" sz="1200" dirty="0"/>
              <a:t>Atelier 3 : Auditeur de demain</a:t>
            </a:r>
            <a:br>
              <a:rPr lang="fr-MA" sz="1200" dirty="0"/>
            </a:br>
            <a:r>
              <a:rPr lang="fr-MA" sz="1200" dirty="0"/>
              <a:t>Ateliers consacrés à l’évolution du métier et aux compétences de l’auditeur interne.</a:t>
            </a:r>
          </a:p>
          <a:p>
            <a:endParaRPr lang="fr-MA" sz="1200" dirty="0"/>
          </a:p>
          <a:p>
            <a:r>
              <a:rPr lang="fr-MA" sz="1200" dirty="0"/>
              <a:t>16:50 – 17:35</a:t>
            </a:r>
          </a:p>
          <a:p>
            <a:r>
              <a:rPr lang="fr-MA" sz="1200" dirty="0"/>
              <a:t>Innovation </a:t>
            </a:r>
            <a:r>
              <a:rPr lang="fr-MA" sz="1200" dirty="0" err="1"/>
              <a:t>Lab</a:t>
            </a:r>
            <a:endParaRPr lang="fr-MA" sz="1200" dirty="0"/>
          </a:p>
          <a:p>
            <a:r>
              <a:rPr lang="fr-MA" sz="1200" dirty="0"/>
              <a:t>Monitoring / SAP / Process Mining / Détection de la fraude et analyse prédictive</a:t>
            </a:r>
          </a:p>
          <a:p>
            <a:endParaRPr lang="fr-MA" sz="1200" dirty="0"/>
          </a:p>
        </p:txBody>
      </p:sp>
    </p:spTree>
    <p:extLst>
      <p:ext uri="{BB962C8B-B14F-4D97-AF65-F5344CB8AC3E}">
        <p14:creationId xmlns:p14="http://schemas.microsoft.com/office/powerpoint/2010/main" val="723958866"/>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199</TotalTime>
  <Words>1062</Words>
  <Application>Microsoft Office PowerPoint</Application>
  <PresentationFormat>Personnalisé</PresentationFormat>
  <Paragraphs>126</Paragraphs>
  <Slides>4</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vt:i4>
      </vt:variant>
    </vt:vector>
  </HeadingPairs>
  <TitlesOfParts>
    <vt:vector size="8" baseType="lpstr">
      <vt:lpstr>Aptos</vt:lpstr>
      <vt:lpstr>Aptos Display</vt:lpstr>
      <vt:lpstr>Arial</vt:lpstr>
      <vt:lpstr>Thème Office</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Laïla Triki</dc:creator>
  <cp:lastModifiedBy>Laïla Triki</cp:lastModifiedBy>
  <cp:revision>9</cp:revision>
  <dcterms:created xsi:type="dcterms:W3CDTF">2026-10-01T16:36:13Z</dcterms:created>
  <dcterms:modified xsi:type="dcterms:W3CDTF">2026-10-04T17:19:11Z</dcterms:modified>
</cp:coreProperties>
</file>